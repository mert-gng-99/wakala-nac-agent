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282D"/>
                </a:solidFill>
                <a:latin typeface="Calibri"/>
              </a:defRPr>
            </a:pPr>
            <a:r>
              <a:rPr sz="1400" b="0" i="0" u="none" strike="noStrike">
                <a:solidFill>
                  <a:srgbClr val="23282D"/>
                </a:solidFill>
                <a:latin typeface="Calibri"/>
              </a:rPr>
              <a:t>Our model of days to complete an act from abroad</a:t>
            </a:r>
          </a:p>
        </c:rich>
      </c:tx>
      <c:layout/>
      <c:overlay val="0"/>
    </c:title>
    <c:autoTitleDeleted val="0"/>
    <c:plotArea>
      <c:layout/>
      <c:barChart>
        <c:barDir val="col"/>
        <c:grouping val="clustered"/>
        <c:varyColors val="0"/>
        <c:ser>
          <c:idx val="0"/>
          <c:order val="0"/>
          <c:tx>
            <c:strRef>
              <c:f>Sheet1!$B$1</c:f>
              <c:strCache>
                <c:ptCount val="1"/>
                <c:pt idx="0">
                  <c:v>Days</c:v>
                </c:pt>
              </c:strCache>
            </c:strRef>
          </c:tx>
          <c:spPr>
            <a:solidFill>
              <a:srgbClr val="44505A"/>
            </a:solidFill>
            <a:effectLst/>
          </c:spPr>
          <c:invertIfNegative val="0"/>
          <c:dLbls>
            <c:numFmt formatCode="#,##0" sourceLinked="0"/>
            <c:txPr>
              <a:bodyPr/>
              <a:lstStyle/>
              <a:p>
                <a:pPr>
                  <a:defRPr b="0" i="0" strike="noStrike" sz="1400" u="none">
                    <a:solidFill>
                      <a:srgbClr val="23282D"/>
                    </a:solidFill>
                    <a:latin typeface="Calibri"/>
                  </a:defRPr>
                </a:pPr>
              </a:p>
            </c:txPr>
            <c:showLegendKey val="0"/>
            <c:showVal val="1"/>
            <c:showCatName val="0"/>
            <c:showSerName val="0"/>
            <c:showPercent val="0"/>
            <c:showBubbleSize val="0"/>
            <c:showLeaderLines val="0"/>
          </c:dLbls>
          <c:dPt>
            <c:idx val="0"/>
            <c:invertIfNegative val="0"/>
            <c:bubble3D val="0"/>
            <c:spPr>
              <a:solidFill>
                <a:srgbClr val="44505A"/>
              </a:solidFill>
              <a:effectLst/>
            </c:spPr>
          </c:dPt>
          <c:dPt>
            <c:idx val="1"/>
            <c:invertIfNegative val="0"/>
            <c:bubble3D val="0"/>
            <c:spPr>
              <a:solidFill>
                <a:srgbClr val="C9A227"/>
              </a:solidFill>
              <a:effectLst/>
            </c:spPr>
          </c:dPt>
          <c:cat>
            <c:multiLvlStrRef>
              <c:f>Sheet1!$A$2:$A$3</c:f>
              <c:multiLvlStrCache>
                <c:ptCount val="2"/>
                <c:lvl>
                  <c:pt idx="0">
                    <c:v>Consulate route</c:v>
                  </c:pt>
                  <c:pt idx="1">
                    <c:v>With Wakala</c:v>
                  </c:pt>
                </c:lvl>
              </c:multiLvlStrCache>
            </c:multiLvlStrRef>
          </c:cat>
          <c:val>
            <c:numRef>
              <c:f>Sheet1!$B$2:$B$3</c:f>
              <c:numCache>
                <c:formatCode>General</c:formatCode>
                <c:ptCount val="2"/>
                <c:pt idx="0">
                  <c:v>21</c:v>
                </c:pt>
                <c:pt idx="1">
                  <c:v>1</c:v>
                </c:pt>
              </c:numCache>
            </c:numRef>
          </c:val>
        </c:ser>
        <c:dLbls>
          <c:numFmt formatCode="#,##0" sourceLinked="0"/>
          <c:txPr>
            <a:bodyPr/>
            <a:lstStyle/>
            <a:p>
              <a:pPr>
                <a:defRPr b="0" i="0" strike="noStrike" sz="1400" u="none">
                  <a:solidFill>
                    <a:srgbClr val="23282D"/>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76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67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Wakala is the word for power of attorney across the Arab world, and vekalet in Turkish. The name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suffer. Honest citizens wait and criminals still get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say we replace the notary. Say we give the notary better evidence. That is what gets it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proof to stakes is the argument that a ministry lawyer will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bottom line. It is the sentence that keeps lawyers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Roaming status is a feature here, not a problem. It proves the person is where they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court proof card is what a notary chamber actually cares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door versus a dial. That contrast is the pitch in four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Shorter consulate queues is the line a ministry hears. Lead with that in a public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three is the one that decides this business. Practise saying it in one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light acts. That is the only realistic first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line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82D"/>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44505A">
              <a:alpha val="55000"/>
            </a:srgbClr>
          </a:solidFill>
          <a:ln w="12700">
            <a:solidFill>
              <a:srgbClr val="44505A">
                <a:alpha val="0"/>
              </a:srgbClr>
            </a:solidFill>
            <a:prstDash val="solid"/>
          </a:ln>
        </p:spPr>
      </p:sp>
      <p:sp>
        <p:nvSpPr>
          <p:cNvPr id="3" name="Shape 1"/>
          <p:cNvSpPr/>
          <p:nvPr/>
        </p:nvSpPr>
        <p:spPr>
          <a:xfrm>
            <a:off x="10881360" y="4206240"/>
            <a:ext cx="2743200" cy="2743200"/>
          </a:xfrm>
          <a:prstGeom prst="ellipse">
            <a:avLst/>
          </a:prstGeom>
          <a:solidFill>
            <a:srgbClr val="C9A227">
              <a:alpha val="30000"/>
            </a:srgbClr>
          </a:solidFill>
          <a:ln w="12700">
            <a:solidFill>
              <a:srgbClr val="C9A227">
                <a:alpha val="0"/>
              </a:srgbClr>
            </a:solidFill>
            <a:prstDash val="solid"/>
          </a:ln>
        </p:spPr>
      </p:sp>
      <p:sp>
        <p:nvSpPr>
          <p:cNvPr id="4" name="Text 2"/>
          <p:cNvSpPr/>
          <p:nvPr/>
        </p:nvSpPr>
        <p:spPr>
          <a:xfrm>
            <a:off x="822960" y="1371600"/>
            <a:ext cx="8229600" cy="320040"/>
          </a:xfrm>
          <a:prstGeom prst="rect">
            <a:avLst/>
          </a:prstGeom>
          <a:noFill/>
          <a:ln/>
        </p:spPr>
        <p:txBody>
          <a:bodyPr wrap="square" lIns="0" tIns="0" rIns="0" bIns="0"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MENA IGNITE HACKATHON 2026</a:t>
            </a:r>
            <a:endParaRPr lang="en-US" sz="1300" dirty="0"/>
          </a:p>
        </p:txBody>
      </p:sp>
      <p:sp>
        <p:nvSpPr>
          <p:cNvPr id="5" name="Text 3"/>
          <p:cNvSpPr/>
          <p:nvPr/>
        </p:nvSpPr>
        <p:spPr>
          <a:xfrm>
            <a:off x="822960" y="1828800"/>
            <a:ext cx="8595360" cy="137160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Wakala</a:t>
            </a:r>
            <a:endParaRPr lang="en-US" sz="6800" dirty="0"/>
          </a:p>
        </p:txBody>
      </p:sp>
      <p:sp>
        <p:nvSpPr>
          <p:cNvPr id="6" name="Text 4"/>
          <p:cNvSpPr/>
          <p:nvPr/>
        </p:nvSpPr>
        <p:spPr>
          <a:xfrm>
            <a:off x="822960" y="3246120"/>
            <a:ext cx="8229600" cy="1005840"/>
          </a:xfrm>
          <a:prstGeom prst="rect">
            <a:avLst/>
          </a:prstGeom>
          <a:noFill/>
          <a:ln/>
        </p:spPr>
        <p:txBody>
          <a:bodyPr wrap="square" lIns="0" tIns="0" rIns="0" bIns="0" rtlCol="0" anchor="ctr"/>
          <a:lstStyle/>
          <a:p>
            <a:pPr indent="0" marL="0">
              <a:lnSpc>
                <a:spcPct val="120000"/>
              </a:lnSpc>
              <a:buNone/>
            </a:pPr>
            <a:r>
              <a:rPr lang="en-US" sz="2100" dirty="0">
                <a:solidFill>
                  <a:srgbClr val="D2D7DC"/>
                </a:solidFill>
                <a:latin typeface="Calibri" pitchFamily="34" charset="0"/>
                <a:ea typeface="Calibri" pitchFamily="34" charset="-122"/>
                <a:cs typeface="Calibri" pitchFamily="34" charset="-120"/>
              </a:rPr>
              <a:t>An AI agent that lets a citizen abroad sign a real legal act, without waiting weeks for a seat at the consulate.</a:t>
            </a:r>
            <a:endParaRPr lang="en-US" sz="2100" dirty="0"/>
          </a:p>
        </p:txBody>
      </p:sp>
      <p:sp>
        <p:nvSpPr>
          <p:cNvPr id="7" name="Shape 5"/>
          <p:cNvSpPr/>
          <p:nvPr/>
        </p:nvSpPr>
        <p:spPr>
          <a:xfrm>
            <a:off x="822960" y="4617720"/>
            <a:ext cx="6035040" cy="566928"/>
          </a:xfrm>
          <a:prstGeom prst="roundRect">
            <a:avLst>
              <a:gd name="adj" fmla="val 48387"/>
            </a:avLst>
          </a:prstGeom>
          <a:solidFill>
            <a:srgbClr val="44505A"/>
          </a:solidFill>
          <a:ln w="12700">
            <a:solidFill>
              <a:srgbClr val="44505A"/>
            </a:solidFill>
            <a:prstDash val="solid"/>
          </a:ln>
        </p:spPr>
      </p:sp>
      <p:sp>
        <p:nvSpPr>
          <p:cNvPr id="8" name="Text 6"/>
          <p:cNvSpPr/>
          <p:nvPr/>
        </p:nvSpPr>
        <p:spPr>
          <a:xfrm>
            <a:off x="822960" y="4617720"/>
            <a:ext cx="60350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Theme 1   Trusted Digital Identity and Cross Border Verification</a:t>
            </a:r>
            <a:endParaRPr lang="en-US" sz="1300" dirty="0"/>
          </a:p>
        </p:txBody>
      </p:sp>
      <p:sp>
        <p:nvSpPr>
          <p:cNvPr id="9" name="Text 7"/>
          <p:cNvSpPr/>
          <p:nvPr/>
        </p:nvSpPr>
        <p:spPr>
          <a:xfrm>
            <a:off x="822960" y="5806440"/>
            <a:ext cx="8229600" cy="365760"/>
          </a:xfrm>
          <a:prstGeom prst="rect">
            <a:avLst/>
          </a:prstGeom>
          <a:noFill/>
          <a:ln/>
        </p:spPr>
        <p:txBody>
          <a:bodyPr wrap="square" lIns="0" tIns="0" rIns="0" bIns="0" rtlCol="0" anchor="ctr"/>
          <a:lstStyle/>
          <a:p>
            <a:pPr indent="0" marL="0">
              <a:buNone/>
            </a:pPr>
            <a:r>
              <a:rPr lang="en-US" sz="1200" dirty="0">
                <a:solidFill>
                  <a:srgbClr val="D2D7DC"/>
                </a:solidFill>
                <a:latin typeface="Calibri" pitchFamily="34" charset="0"/>
                <a:ea typeface="Calibri" pitchFamily="34" charset="-122"/>
                <a:cs typeface="Calibri" pitchFamily="34" charset="-120"/>
              </a:rPr>
              <a:t>Built on GSMA Open Gateway CAMARA APIs and Nokia Network as Code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A signature abroad still costs a flight or a lost week</a:t>
            </a:r>
            <a:endParaRPr lang="en-US" sz="3600" dirty="0"/>
          </a:p>
        </p:txBody>
      </p:sp>
      <p:sp>
        <p:nvSpPr>
          <p:cNvPr id="4" name="Shape 2"/>
          <p:cNvSpPr/>
          <p:nvPr/>
        </p:nvSpPr>
        <p:spPr>
          <a:xfrm>
            <a:off x="594360" y="1645920"/>
            <a:ext cx="3444240" cy="1417320"/>
          </a:xfrm>
          <a:prstGeom prst="roundRect">
            <a:avLst>
              <a:gd name="adj" fmla="val 7742"/>
            </a:avLst>
          </a:prstGeom>
          <a:solidFill>
            <a:srgbClr val="F0F1F2"/>
          </a:solidFill>
          <a:ln w="12700">
            <a:solidFill>
              <a:srgbClr val="F0F1F2"/>
            </a:solidFill>
            <a:prstDash val="solid"/>
          </a:ln>
        </p:spPr>
      </p:sp>
      <p:sp>
        <p:nvSpPr>
          <p:cNvPr id="5" name="Text 3"/>
          <p:cNvSpPr/>
          <p:nvPr/>
        </p:nvSpPr>
        <p:spPr>
          <a:xfrm>
            <a:off x="822960" y="1792224"/>
            <a:ext cx="2987040" cy="640080"/>
          </a:xfrm>
          <a:prstGeom prst="rect">
            <a:avLst/>
          </a:prstGeom>
          <a:noFill/>
          <a:ln/>
        </p:spPr>
        <p:txBody>
          <a:bodyPr wrap="square" lIns="0" tIns="0" rIns="0" bIns="0" rtlCol="0" anchor="ctr"/>
          <a:lstStyle/>
          <a:p>
            <a:pPr indent="0" marL="0">
              <a:buNone/>
            </a:pPr>
            <a:r>
              <a:rPr lang="en-US" sz="3400" b="1" dirty="0">
                <a:solidFill>
                  <a:srgbClr val="44505A"/>
                </a:solidFill>
                <a:latin typeface="Cambria" pitchFamily="34" charset="0"/>
                <a:ea typeface="Cambria" pitchFamily="34" charset="-122"/>
                <a:cs typeface="Cambria" pitchFamily="34" charset="-120"/>
              </a:rPr>
              <a:t>Millions</a:t>
            </a:r>
            <a:endParaRPr lang="en-US" sz="3400" dirty="0"/>
          </a:p>
        </p:txBody>
      </p:sp>
      <p:sp>
        <p:nvSpPr>
          <p:cNvPr id="6" name="Text 4"/>
          <p:cNvSpPr/>
          <p:nvPr/>
        </p:nvSpPr>
        <p:spPr>
          <a:xfrm>
            <a:off x="822960" y="2432304"/>
            <a:ext cx="2987040" cy="502920"/>
          </a:xfrm>
          <a:prstGeom prst="rect">
            <a:avLst/>
          </a:prstGeom>
          <a:noFill/>
          <a:ln/>
        </p:spPr>
        <p:txBody>
          <a:bodyPr wrap="square" lIns="0" tIns="0" rIns="0" bIns="0" rtlCol="0" anchor="ctr"/>
          <a:lstStyle/>
          <a:p>
            <a:pPr indent="0" marL="0">
              <a:lnSpc>
                <a:spcPct val="110000"/>
              </a:lnSpc>
              <a:buNone/>
            </a:pPr>
            <a:r>
              <a:rPr lang="en-US" sz="1250" dirty="0">
                <a:solidFill>
                  <a:srgbClr val="6E767E"/>
                </a:solidFill>
                <a:latin typeface="Calibri" pitchFamily="34" charset="0"/>
                <a:ea typeface="Calibri" pitchFamily="34" charset="-122"/>
                <a:cs typeface="Calibri" pitchFamily="34" charset="-120"/>
              </a:rPr>
              <a:t>of citizens in the region live outside their home country</a:t>
            </a:r>
            <a:endParaRPr lang="en-US" sz="1250" dirty="0"/>
          </a:p>
        </p:txBody>
      </p:sp>
      <p:sp>
        <p:nvSpPr>
          <p:cNvPr id="7" name="Shape 5"/>
          <p:cNvSpPr/>
          <p:nvPr/>
        </p:nvSpPr>
        <p:spPr>
          <a:xfrm>
            <a:off x="4358640" y="1645920"/>
            <a:ext cx="3444240" cy="1417320"/>
          </a:xfrm>
          <a:prstGeom prst="roundRect">
            <a:avLst>
              <a:gd name="adj" fmla="val 7742"/>
            </a:avLst>
          </a:prstGeom>
          <a:solidFill>
            <a:srgbClr val="F0F1F2"/>
          </a:solidFill>
          <a:ln w="12700">
            <a:solidFill>
              <a:srgbClr val="F0F1F2"/>
            </a:solidFill>
            <a:prstDash val="solid"/>
          </a:ln>
        </p:spPr>
      </p:sp>
      <p:sp>
        <p:nvSpPr>
          <p:cNvPr id="8" name="Text 6"/>
          <p:cNvSpPr/>
          <p:nvPr/>
        </p:nvSpPr>
        <p:spPr>
          <a:xfrm>
            <a:off x="4587240" y="1792224"/>
            <a:ext cx="2987040" cy="640080"/>
          </a:xfrm>
          <a:prstGeom prst="rect">
            <a:avLst/>
          </a:prstGeom>
          <a:noFill/>
          <a:ln/>
        </p:spPr>
        <p:txBody>
          <a:bodyPr wrap="square" lIns="0" tIns="0" rIns="0" bIns="0" rtlCol="0" anchor="ctr"/>
          <a:lstStyle/>
          <a:p>
            <a:pPr indent="0" marL="0">
              <a:buNone/>
            </a:pPr>
            <a:r>
              <a:rPr lang="en-US" sz="3400" b="1" dirty="0">
                <a:solidFill>
                  <a:srgbClr val="44505A"/>
                </a:solidFill>
                <a:latin typeface="Cambria" pitchFamily="34" charset="0"/>
                <a:ea typeface="Cambria" pitchFamily="34" charset="-122"/>
                <a:cs typeface="Cambria" pitchFamily="34" charset="-120"/>
              </a:rPr>
              <a:t>In person</a:t>
            </a:r>
            <a:endParaRPr lang="en-US" sz="3400" dirty="0"/>
          </a:p>
        </p:txBody>
      </p:sp>
      <p:sp>
        <p:nvSpPr>
          <p:cNvPr id="9" name="Text 7"/>
          <p:cNvSpPr/>
          <p:nvPr/>
        </p:nvSpPr>
        <p:spPr>
          <a:xfrm>
            <a:off x="4587240" y="2432304"/>
            <a:ext cx="2987040" cy="502920"/>
          </a:xfrm>
          <a:prstGeom prst="rect">
            <a:avLst/>
          </a:prstGeom>
          <a:noFill/>
          <a:ln/>
        </p:spPr>
        <p:txBody>
          <a:bodyPr wrap="square" lIns="0" tIns="0" rIns="0" bIns="0" rtlCol="0" anchor="ctr"/>
          <a:lstStyle/>
          <a:p>
            <a:pPr indent="0" marL="0">
              <a:lnSpc>
                <a:spcPct val="110000"/>
              </a:lnSpc>
              <a:buNone/>
            </a:pPr>
            <a:r>
              <a:rPr lang="en-US" sz="1250" dirty="0">
                <a:solidFill>
                  <a:srgbClr val="6E767E"/>
                </a:solidFill>
                <a:latin typeface="Calibri" pitchFamily="34" charset="0"/>
                <a:ea typeface="Calibri" pitchFamily="34" charset="-122"/>
                <a:cs typeface="Calibri" pitchFamily="34" charset="-120"/>
              </a:rPr>
              <a:t>is still the rule for a power of attorney or a property sale</a:t>
            </a:r>
            <a:endParaRPr lang="en-US" sz="1250" dirty="0"/>
          </a:p>
        </p:txBody>
      </p:sp>
      <p:sp>
        <p:nvSpPr>
          <p:cNvPr id="10" name="Shape 8"/>
          <p:cNvSpPr/>
          <p:nvPr/>
        </p:nvSpPr>
        <p:spPr>
          <a:xfrm>
            <a:off x="8122920" y="1645920"/>
            <a:ext cx="3444240" cy="1417320"/>
          </a:xfrm>
          <a:prstGeom prst="roundRect">
            <a:avLst>
              <a:gd name="adj" fmla="val 7742"/>
            </a:avLst>
          </a:prstGeom>
          <a:solidFill>
            <a:srgbClr val="F0F1F2"/>
          </a:solidFill>
          <a:ln w="12700">
            <a:solidFill>
              <a:srgbClr val="F0F1F2"/>
            </a:solidFill>
            <a:prstDash val="solid"/>
          </a:ln>
        </p:spPr>
      </p:sp>
      <p:sp>
        <p:nvSpPr>
          <p:cNvPr id="11" name="Text 9"/>
          <p:cNvSpPr/>
          <p:nvPr/>
        </p:nvSpPr>
        <p:spPr>
          <a:xfrm>
            <a:off x="8351520" y="1792224"/>
            <a:ext cx="2987040" cy="640080"/>
          </a:xfrm>
          <a:prstGeom prst="rect">
            <a:avLst/>
          </a:prstGeom>
          <a:noFill/>
          <a:ln/>
        </p:spPr>
        <p:txBody>
          <a:bodyPr wrap="square" lIns="0" tIns="0" rIns="0" bIns="0" rtlCol="0" anchor="ctr"/>
          <a:lstStyle/>
          <a:p>
            <a:pPr indent="0" marL="0">
              <a:buNone/>
            </a:pPr>
            <a:r>
              <a:rPr lang="en-US" sz="3400" b="1" dirty="0">
                <a:solidFill>
                  <a:srgbClr val="44505A"/>
                </a:solidFill>
                <a:latin typeface="Cambria" pitchFamily="34" charset="0"/>
                <a:ea typeface="Cambria" pitchFamily="34" charset="-122"/>
                <a:cs typeface="Cambria" pitchFamily="34" charset="-120"/>
              </a:rPr>
              <a:t>Weeks</a:t>
            </a:r>
            <a:endParaRPr lang="en-US" sz="3400" dirty="0"/>
          </a:p>
        </p:txBody>
      </p:sp>
      <p:sp>
        <p:nvSpPr>
          <p:cNvPr id="12" name="Text 10"/>
          <p:cNvSpPr/>
          <p:nvPr/>
        </p:nvSpPr>
        <p:spPr>
          <a:xfrm>
            <a:off x="8351520" y="2432304"/>
            <a:ext cx="2987040" cy="502920"/>
          </a:xfrm>
          <a:prstGeom prst="rect">
            <a:avLst/>
          </a:prstGeom>
          <a:noFill/>
          <a:ln/>
        </p:spPr>
        <p:txBody>
          <a:bodyPr wrap="square" lIns="0" tIns="0" rIns="0" bIns="0" rtlCol="0" anchor="ctr"/>
          <a:lstStyle/>
          <a:p>
            <a:pPr indent="0" marL="0">
              <a:lnSpc>
                <a:spcPct val="110000"/>
              </a:lnSpc>
              <a:buNone/>
            </a:pPr>
            <a:r>
              <a:rPr lang="en-US" sz="1250" dirty="0">
                <a:solidFill>
                  <a:srgbClr val="6E767E"/>
                </a:solidFill>
                <a:latin typeface="Calibri" pitchFamily="34" charset="0"/>
                <a:ea typeface="Calibri" pitchFamily="34" charset="-122"/>
                <a:cs typeface="Calibri" pitchFamily="34" charset="-120"/>
              </a:rPr>
              <a:t>of waiting for one consulate appointment slot</a:t>
            </a:r>
            <a:endParaRPr lang="en-US" sz="1250" dirty="0"/>
          </a:p>
        </p:txBody>
      </p:sp>
      <p:sp>
        <p:nvSpPr>
          <p:cNvPr id="13" name="Shape 11"/>
          <p:cNvSpPr/>
          <p:nvPr/>
        </p:nvSpPr>
        <p:spPr>
          <a:xfrm>
            <a:off x="658368" y="3502152"/>
            <a:ext cx="201168" cy="201168"/>
          </a:xfrm>
          <a:prstGeom prst="ellipse">
            <a:avLst/>
          </a:prstGeom>
          <a:solidFill>
            <a:srgbClr val="C9A227"/>
          </a:solidFill>
          <a:ln w="12700">
            <a:solidFill>
              <a:srgbClr val="C9A227"/>
            </a:solidFill>
            <a:prstDash val="solid"/>
          </a:ln>
        </p:spPr>
      </p:sp>
      <p:sp>
        <p:nvSpPr>
          <p:cNvPr id="14" name="Text 12"/>
          <p:cNvSpPr/>
          <p:nvPr/>
        </p:nvSpPr>
        <p:spPr>
          <a:xfrm>
            <a:off x="1042416" y="3429000"/>
            <a:ext cx="10497312" cy="612648"/>
          </a:xfrm>
          <a:prstGeom prst="rect">
            <a:avLst/>
          </a:prstGeom>
          <a:noFill/>
          <a:ln/>
        </p:spPr>
        <p:txBody>
          <a:bodyPr wrap="square" lIns="0" tIns="0" rIns="0" bIns="0" rtlCol="0" anchor="t"/>
          <a:lstStyle/>
          <a:p>
            <a:pPr indent="0" marL="0">
              <a:lnSpc>
                <a:spcPct val="118000"/>
              </a:lnSpc>
              <a:buNone/>
            </a:pPr>
            <a:r>
              <a:rPr lang="en-US" sz="1500" dirty="0">
                <a:solidFill>
                  <a:srgbClr val="3C434A"/>
                </a:solidFill>
                <a:latin typeface="Calibri" pitchFamily="34" charset="0"/>
                <a:ea typeface="Calibri" pitchFamily="34" charset="-122"/>
                <a:cs typeface="Calibri" pitchFamily="34" charset="-120"/>
              </a:rPr>
              <a:t>To sell a flat, give a power of attorney, register a company or close an inheritance case, a citizen abroad must appear in person at a consulate.</a:t>
            </a:r>
            <a:endParaRPr lang="en-US" sz="1500" dirty="0"/>
          </a:p>
        </p:txBody>
      </p:sp>
      <p:sp>
        <p:nvSpPr>
          <p:cNvPr id="15" name="Shape 13"/>
          <p:cNvSpPr/>
          <p:nvPr/>
        </p:nvSpPr>
        <p:spPr>
          <a:xfrm>
            <a:off x="658368" y="4160520"/>
            <a:ext cx="201168" cy="201168"/>
          </a:xfrm>
          <a:prstGeom prst="ellipse">
            <a:avLst/>
          </a:prstGeom>
          <a:solidFill>
            <a:srgbClr val="C9A227"/>
          </a:solidFill>
          <a:ln w="12700">
            <a:solidFill>
              <a:srgbClr val="C9A227"/>
            </a:solidFill>
            <a:prstDash val="solid"/>
          </a:ln>
        </p:spPr>
      </p:sp>
      <p:sp>
        <p:nvSpPr>
          <p:cNvPr id="16" name="Text 14"/>
          <p:cNvSpPr/>
          <p:nvPr/>
        </p:nvSpPr>
        <p:spPr>
          <a:xfrm>
            <a:off x="1042416" y="4087368"/>
            <a:ext cx="10497312" cy="612648"/>
          </a:xfrm>
          <a:prstGeom prst="rect">
            <a:avLst/>
          </a:prstGeom>
          <a:noFill/>
          <a:ln/>
        </p:spPr>
        <p:txBody>
          <a:bodyPr wrap="square" lIns="0" tIns="0" rIns="0" bIns="0" rtlCol="0" anchor="t"/>
          <a:lstStyle/>
          <a:p>
            <a:pPr indent="0" marL="0">
              <a:lnSpc>
                <a:spcPct val="118000"/>
              </a:lnSpc>
              <a:buNone/>
            </a:pPr>
            <a:r>
              <a:rPr lang="en-US" sz="1500" dirty="0">
                <a:solidFill>
                  <a:srgbClr val="3C434A"/>
                </a:solidFill>
                <a:latin typeface="Calibri" pitchFamily="34" charset="0"/>
                <a:ea typeface="Calibri" pitchFamily="34" charset="-122"/>
                <a:cs typeface="Calibri" pitchFamily="34" charset="-120"/>
              </a:rPr>
              <a:t>The reason is fair. A legal act needs strong proof of who is acting, and a code sent by SMS has never been that proof.</a:t>
            </a:r>
            <a:endParaRPr lang="en-US" sz="1500" dirty="0"/>
          </a:p>
        </p:txBody>
      </p:sp>
      <p:sp>
        <p:nvSpPr>
          <p:cNvPr id="17" name="Shape 15"/>
          <p:cNvSpPr/>
          <p:nvPr/>
        </p:nvSpPr>
        <p:spPr>
          <a:xfrm>
            <a:off x="658368" y="4818888"/>
            <a:ext cx="201168" cy="201168"/>
          </a:xfrm>
          <a:prstGeom prst="ellipse">
            <a:avLst/>
          </a:prstGeom>
          <a:solidFill>
            <a:srgbClr val="C9A227"/>
          </a:solidFill>
          <a:ln w="12700">
            <a:solidFill>
              <a:srgbClr val="C9A227"/>
            </a:solidFill>
            <a:prstDash val="solid"/>
          </a:ln>
        </p:spPr>
      </p:sp>
      <p:sp>
        <p:nvSpPr>
          <p:cNvPr id="18" name="Text 16"/>
          <p:cNvSpPr/>
          <p:nvPr/>
        </p:nvSpPr>
        <p:spPr>
          <a:xfrm>
            <a:off x="1042416" y="4745736"/>
            <a:ext cx="10497312" cy="612648"/>
          </a:xfrm>
          <a:prstGeom prst="rect">
            <a:avLst/>
          </a:prstGeom>
          <a:noFill/>
          <a:ln/>
        </p:spPr>
        <p:txBody>
          <a:bodyPr wrap="square" lIns="0" tIns="0" rIns="0" bIns="0" rtlCol="0" anchor="t"/>
          <a:lstStyle/>
          <a:p>
            <a:pPr indent="0" marL="0">
              <a:lnSpc>
                <a:spcPct val="118000"/>
              </a:lnSpc>
              <a:buNone/>
            </a:pPr>
            <a:r>
              <a:rPr lang="en-US" sz="1500" dirty="0">
                <a:solidFill>
                  <a:srgbClr val="3C434A"/>
                </a:solidFill>
                <a:latin typeface="Calibri" pitchFamily="34" charset="0"/>
                <a:ea typeface="Calibri" pitchFamily="34" charset="-122"/>
                <a:cs typeface="Calibri" pitchFamily="34" charset="-120"/>
              </a:rPr>
              <a:t>So people lose a day of pay, or a flight, or they simply give up and let a family member act informally, which creates the next dispute.</a:t>
            </a:r>
            <a:endParaRPr lang="en-US" sz="1500" dirty="0"/>
          </a:p>
        </p:txBody>
      </p:sp>
      <p:sp>
        <p:nvSpPr>
          <p:cNvPr id="19" name="Shape 17"/>
          <p:cNvSpPr/>
          <p:nvPr/>
        </p:nvSpPr>
        <p:spPr>
          <a:xfrm>
            <a:off x="658368" y="5477256"/>
            <a:ext cx="201168" cy="201168"/>
          </a:xfrm>
          <a:prstGeom prst="ellipse">
            <a:avLst/>
          </a:prstGeom>
          <a:solidFill>
            <a:srgbClr val="C9A227"/>
          </a:solidFill>
          <a:ln w="12700">
            <a:solidFill>
              <a:srgbClr val="C9A227"/>
            </a:solidFill>
            <a:prstDash val="solid"/>
          </a:ln>
        </p:spPr>
      </p:sp>
      <p:sp>
        <p:nvSpPr>
          <p:cNvPr id="20" name="Text 18"/>
          <p:cNvSpPr/>
          <p:nvPr/>
        </p:nvSpPr>
        <p:spPr>
          <a:xfrm>
            <a:off x="1042416" y="5404104"/>
            <a:ext cx="10497312" cy="612648"/>
          </a:xfrm>
          <a:prstGeom prst="rect">
            <a:avLst/>
          </a:prstGeom>
          <a:noFill/>
          <a:ln/>
        </p:spPr>
        <p:txBody>
          <a:bodyPr wrap="square" lIns="0" tIns="0" rIns="0" bIns="0" rtlCol="0" anchor="t"/>
          <a:lstStyle/>
          <a:p>
            <a:pPr indent="0" marL="0">
              <a:lnSpc>
                <a:spcPct val="118000"/>
              </a:lnSpc>
              <a:buNone/>
            </a:pPr>
            <a:r>
              <a:rPr lang="en-US" sz="1500" dirty="0">
                <a:solidFill>
                  <a:srgbClr val="3C434A"/>
                </a:solidFill>
                <a:latin typeface="Calibri" pitchFamily="34" charset="0"/>
                <a:ea typeface="Calibri" pitchFamily="34" charset="-122"/>
                <a:cs typeface="Calibri" pitchFamily="34" charset="-120"/>
              </a:rPr>
              <a:t>The same weak proof lets fraud in. A stolen number and a copy of an identity card have been enough to move property in more than one country.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The line becomes the proof the notary needs</a:t>
            </a:r>
            <a:endParaRPr lang="en-US" sz="3600" dirty="0"/>
          </a:p>
        </p:txBody>
      </p:sp>
      <p:sp>
        <p:nvSpPr>
          <p:cNvPr id="4" name="Shape 2"/>
          <p:cNvSpPr/>
          <p:nvPr/>
        </p:nvSpPr>
        <p:spPr>
          <a:xfrm>
            <a:off x="594360" y="1737360"/>
            <a:ext cx="3444240" cy="1828800"/>
          </a:xfrm>
          <a:prstGeom prst="roundRect">
            <a:avLst>
              <a:gd name="adj" fmla="val 5000"/>
            </a:avLst>
          </a:prstGeom>
          <a:solidFill>
            <a:srgbClr val="F0F1F2"/>
          </a:solidFill>
          <a:ln w="12700">
            <a:solidFill>
              <a:srgbClr val="F0F1F2"/>
            </a:solidFill>
            <a:prstDash val="solid"/>
          </a:ln>
        </p:spPr>
      </p:sp>
      <p:sp>
        <p:nvSpPr>
          <p:cNvPr id="5" name="Shape 3"/>
          <p:cNvSpPr/>
          <p:nvPr/>
        </p:nvSpPr>
        <p:spPr>
          <a:xfrm>
            <a:off x="850392" y="1975104"/>
            <a:ext cx="310896" cy="310896"/>
          </a:xfrm>
          <a:prstGeom prst="ellipse">
            <a:avLst/>
          </a:prstGeom>
          <a:solidFill>
            <a:srgbClr val="C9A227"/>
          </a:solidFill>
          <a:ln w="12700">
            <a:solidFill>
              <a:srgbClr val="C9A227"/>
            </a:solidFill>
            <a:prstDash val="solid"/>
          </a:ln>
        </p:spPr>
      </p:sp>
      <p:sp>
        <p:nvSpPr>
          <p:cNvPr id="6" name="Text 4"/>
          <p:cNvSpPr/>
          <p:nvPr/>
        </p:nvSpPr>
        <p:spPr>
          <a:xfrm>
            <a:off x="128016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Who is acting</a:t>
            </a:r>
            <a:endParaRPr lang="en-US" sz="1450" dirty="0"/>
          </a:p>
        </p:txBody>
      </p:sp>
      <p:sp>
        <p:nvSpPr>
          <p:cNvPr id="7" name="Text 5"/>
          <p:cNvSpPr/>
          <p:nvPr/>
        </p:nvSpPr>
        <p:spPr>
          <a:xfrm>
            <a:off x="850392" y="2395728"/>
            <a:ext cx="2932176" cy="96012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The network confirms that the phone in the citizen hand really holds that number. There is no code to phish and nothing to forward.</a:t>
            </a:r>
            <a:endParaRPr lang="en-US" sz="1250" dirty="0"/>
          </a:p>
        </p:txBody>
      </p:sp>
      <p:sp>
        <p:nvSpPr>
          <p:cNvPr id="8" name="Shape 6"/>
          <p:cNvSpPr/>
          <p:nvPr/>
        </p:nvSpPr>
        <p:spPr>
          <a:xfrm>
            <a:off x="4358640" y="1737360"/>
            <a:ext cx="3444240" cy="1828800"/>
          </a:xfrm>
          <a:prstGeom prst="roundRect">
            <a:avLst>
              <a:gd name="adj" fmla="val 5000"/>
            </a:avLst>
          </a:prstGeom>
          <a:solidFill>
            <a:srgbClr val="F0F1F2"/>
          </a:solidFill>
          <a:ln w="12700">
            <a:solidFill>
              <a:srgbClr val="F0F1F2"/>
            </a:solidFill>
            <a:prstDash val="solid"/>
          </a:ln>
        </p:spPr>
      </p:sp>
      <p:sp>
        <p:nvSpPr>
          <p:cNvPr id="9" name="Shape 7"/>
          <p:cNvSpPr/>
          <p:nvPr/>
        </p:nvSpPr>
        <p:spPr>
          <a:xfrm>
            <a:off x="4614672" y="1975104"/>
            <a:ext cx="310896" cy="310896"/>
          </a:xfrm>
          <a:prstGeom prst="ellipse">
            <a:avLst/>
          </a:prstGeom>
          <a:solidFill>
            <a:srgbClr val="C9A227"/>
          </a:solidFill>
          <a:ln w="12700">
            <a:solidFill>
              <a:srgbClr val="C9A227"/>
            </a:solidFill>
            <a:prstDash val="solid"/>
          </a:ln>
        </p:spPr>
      </p:sp>
      <p:sp>
        <p:nvSpPr>
          <p:cNvPr id="10" name="Text 8"/>
          <p:cNvSpPr/>
          <p:nvPr/>
        </p:nvSpPr>
        <p:spPr>
          <a:xfrm>
            <a:off x="504444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Where they are</a:t>
            </a:r>
            <a:endParaRPr lang="en-US" sz="1450" dirty="0"/>
          </a:p>
        </p:txBody>
      </p:sp>
      <p:sp>
        <p:nvSpPr>
          <p:cNvPr id="11" name="Text 9"/>
          <p:cNvSpPr/>
          <p:nvPr/>
        </p:nvSpPr>
        <p:spPr>
          <a:xfrm>
            <a:off x="4614672" y="2395728"/>
            <a:ext cx="2932176" cy="96012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Roaming and location tell the office that the person really is in the country they declared, which is half of a consular act.</a:t>
            </a:r>
            <a:endParaRPr lang="en-US" sz="1250" dirty="0"/>
          </a:p>
        </p:txBody>
      </p:sp>
      <p:sp>
        <p:nvSpPr>
          <p:cNvPr id="12" name="Shape 10"/>
          <p:cNvSpPr/>
          <p:nvPr/>
        </p:nvSpPr>
        <p:spPr>
          <a:xfrm>
            <a:off x="8122920" y="1737360"/>
            <a:ext cx="3444240" cy="1828800"/>
          </a:xfrm>
          <a:prstGeom prst="roundRect">
            <a:avLst>
              <a:gd name="adj" fmla="val 5000"/>
            </a:avLst>
          </a:prstGeom>
          <a:solidFill>
            <a:srgbClr val="F0F1F2"/>
          </a:solidFill>
          <a:ln w="12700">
            <a:solidFill>
              <a:srgbClr val="F0F1F2"/>
            </a:solidFill>
            <a:prstDash val="solid"/>
          </a:ln>
        </p:spPr>
      </p:sp>
      <p:sp>
        <p:nvSpPr>
          <p:cNvPr id="13" name="Shape 11"/>
          <p:cNvSpPr/>
          <p:nvPr/>
        </p:nvSpPr>
        <p:spPr>
          <a:xfrm>
            <a:off x="8378952" y="1975104"/>
            <a:ext cx="310896" cy="310896"/>
          </a:xfrm>
          <a:prstGeom prst="ellipse">
            <a:avLst/>
          </a:prstGeom>
          <a:solidFill>
            <a:srgbClr val="C9A227"/>
          </a:solidFill>
          <a:ln w="12700">
            <a:solidFill>
              <a:srgbClr val="C9A227"/>
            </a:solidFill>
            <a:prstDash val="solid"/>
          </a:ln>
        </p:spPr>
      </p:sp>
      <p:sp>
        <p:nvSpPr>
          <p:cNvPr id="14" name="Text 12"/>
          <p:cNvSpPr/>
          <p:nvPr/>
        </p:nvSpPr>
        <p:spPr>
          <a:xfrm>
            <a:off x="880872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How fresh the risk is</a:t>
            </a:r>
            <a:endParaRPr lang="en-US" sz="1450" dirty="0"/>
          </a:p>
        </p:txBody>
      </p:sp>
      <p:sp>
        <p:nvSpPr>
          <p:cNvPr id="15" name="Text 13"/>
          <p:cNvSpPr/>
          <p:nvPr/>
        </p:nvSpPr>
        <p:spPr>
          <a:xfrm>
            <a:off x="8378952" y="2395728"/>
            <a:ext cx="2932176" cy="96012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A SIM or device change a few days before a property transfer is the exact shape of a takeover, and the agent treats it that way.</a:t>
            </a:r>
            <a:endParaRPr lang="en-US" sz="1250" dirty="0"/>
          </a:p>
        </p:txBody>
      </p:sp>
      <p:sp>
        <p:nvSpPr>
          <p:cNvPr id="16" name="Shape 14"/>
          <p:cNvSpPr/>
          <p:nvPr/>
        </p:nvSpPr>
        <p:spPr>
          <a:xfrm>
            <a:off x="594360" y="3886200"/>
            <a:ext cx="10972800" cy="1417320"/>
          </a:xfrm>
          <a:prstGeom prst="roundRect">
            <a:avLst>
              <a:gd name="adj" fmla="val 7742"/>
            </a:avLst>
          </a:prstGeom>
          <a:solidFill>
            <a:srgbClr val="23282D"/>
          </a:solidFill>
          <a:ln w="12700">
            <a:solidFill>
              <a:srgbClr val="23282D"/>
            </a:solidFill>
            <a:prstDash val="solid"/>
          </a:ln>
        </p:spPr>
      </p:sp>
      <p:sp>
        <p:nvSpPr>
          <p:cNvPr id="17" name="Text 15"/>
          <p:cNvSpPr/>
          <p:nvPr/>
        </p:nvSpPr>
        <p:spPr>
          <a:xfrm>
            <a:off x="960120" y="4069080"/>
            <a:ext cx="1024128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One sentence for the judges</a:t>
            </a:r>
            <a:endParaRPr lang="en-US" sz="1200" dirty="0"/>
          </a:p>
        </p:txBody>
      </p:sp>
      <p:sp>
        <p:nvSpPr>
          <p:cNvPr id="18" name="Text 16"/>
          <p:cNvSpPr/>
          <p:nvPr/>
        </p:nvSpPr>
        <p:spPr>
          <a:xfrm>
            <a:off x="960120" y="4389120"/>
            <a:ext cx="10241280" cy="77724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Wakala does not replace the notary. It hands the notary a stronger piece of evidence than a video call, so a human can sign off in a day instead of a month.</a:t>
            </a:r>
            <a:endParaRPr lang="en-US" sz="1600" dirty="0"/>
          </a:p>
        </p:txBody>
      </p:sp>
      <p:sp>
        <p:nvSpPr>
          <p:cNvPr id="19" name="Text 17"/>
          <p:cNvSpPr/>
          <p:nvPr/>
        </p:nvSpPr>
        <p:spPr>
          <a:xfrm>
            <a:off x="594360" y="5486400"/>
            <a:ext cx="10972800" cy="320040"/>
          </a:xfrm>
          <a:prstGeom prst="rect">
            <a:avLst/>
          </a:prstGeom>
          <a:noFill/>
          <a:ln/>
        </p:spPr>
        <p:txBody>
          <a:bodyPr wrap="square" lIns="0" tIns="0" rIns="0" bIns="0" rtlCol="0" anchor="ctr"/>
          <a:lstStyle/>
          <a:p>
            <a:pPr indent="0" marL="0">
              <a:buNone/>
            </a:pPr>
            <a:r>
              <a:rPr lang="en-US" sz="1100" i="1" dirty="0">
                <a:solidFill>
                  <a:srgbClr val="6E767E"/>
                </a:solidFill>
                <a:latin typeface="Calibri" pitchFamily="34" charset="0"/>
                <a:ea typeface="Calibri" pitchFamily="34" charset="-122"/>
                <a:cs typeface="Calibri" pitchFamily="34" charset="-120"/>
              </a:rPr>
              <a:t>The agent layer is built only with the tools listed in the official Resource and Tooling Guide.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NOT EVERY ACT IS THE SAME</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The agent matches the proof to the stakes</a:t>
            </a:r>
            <a:endParaRPr lang="en-US" sz="3600" dirty="0"/>
          </a:p>
        </p:txBody>
      </p:sp>
      <p:sp>
        <p:nvSpPr>
          <p:cNvPr id="4" name="Shape 2"/>
          <p:cNvSpPr/>
          <p:nvPr/>
        </p:nvSpPr>
        <p:spPr>
          <a:xfrm>
            <a:off x="621792" y="1783080"/>
            <a:ext cx="457200" cy="457200"/>
          </a:xfrm>
          <a:prstGeom prst="ellipse">
            <a:avLst/>
          </a:prstGeom>
          <a:solidFill>
            <a:srgbClr val="44505A"/>
          </a:solidFill>
          <a:ln w="12700">
            <a:solidFill>
              <a:srgbClr val="44505A"/>
            </a:solidFill>
            <a:prstDash val="solid"/>
          </a:ln>
        </p:spPr>
      </p:sp>
      <p:sp>
        <p:nvSpPr>
          <p:cNvPr id="5" name="Text 3"/>
          <p:cNvSpPr/>
          <p:nvPr/>
        </p:nvSpPr>
        <p:spPr>
          <a:xfrm>
            <a:off x="621792"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80160" y="1764792"/>
            <a:ext cx="446227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A light act</a:t>
            </a:r>
            <a:endParaRPr lang="en-US" sz="1500" dirty="0"/>
          </a:p>
        </p:txBody>
      </p:sp>
      <p:sp>
        <p:nvSpPr>
          <p:cNvPr id="7" name="Text 5"/>
          <p:cNvSpPr/>
          <p:nvPr/>
        </p:nvSpPr>
        <p:spPr>
          <a:xfrm>
            <a:off x="1280160" y="2039112"/>
            <a:ext cx="4462272" cy="105156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A change of address or a certificate copy. One silent line check and it is done in seconds.</a:t>
            </a:r>
            <a:endParaRPr lang="en-US" sz="1300" dirty="0"/>
          </a:p>
        </p:txBody>
      </p:sp>
      <p:sp>
        <p:nvSpPr>
          <p:cNvPr id="8" name="Shape 6"/>
          <p:cNvSpPr/>
          <p:nvPr/>
        </p:nvSpPr>
        <p:spPr>
          <a:xfrm>
            <a:off x="621792" y="3154680"/>
            <a:ext cx="457200" cy="457200"/>
          </a:xfrm>
          <a:prstGeom prst="ellipse">
            <a:avLst/>
          </a:prstGeom>
          <a:solidFill>
            <a:srgbClr val="44505A"/>
          </a:solidFill>
          <a:ln w="12700">
            <a:solidFill>
              <a:srgbClr val="44505A"/>
            </a:solidFill>
            <a:prstDash val="solid"/>
          </a:ln>
        </p:spPr>
      </p:sp>
      <p:sp>
        <p:nvSpPr>
          <p:cNvPr id="9" name="Text 7"/>
          <p:cNvSpPr/>
          <p:nvPr/>
        </p:nvSpPr>
        <p:spPr>
          <a:xfrm>
            <a:off x="621792" y="3154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80160" y="3136392"/>
            <a:ext cx="446227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A medium act</a:t>
            </a:r>
            <a:endParaRPr lang="en-US" sz="1500" dirty="0"/>
          </a:p>
        </p:txBody>
      </p:sp>
      <p:sp>
        <p:nvSpPr>
          <p:cNvPr id="11" name="Text 9"/>
          <p:cNvSpPr/>
          <p:nvPr/>
        </p:nvSpPr>
        <p:spPr>
          <a:xfrm>
            <a:off x="1280160" y="3410712"/>
            <a:ext cx="4462272" cy="105156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A company filing or a bank mandate. Add the swap checks and the country check before it moves.</a:t>
            </a:r>
            <a:endParaRPr lang="en-US" sz="1300" dirty="0"/>
          </a:p>
        </p:txBody>
      </p:sp>
      <p:sp>
        <p:nvSpPr>
          <p:cNvPr id="12" name="Shape 10"/>
          <p:cNvSpPr/>
          <p:nvPr/>
        </p:nvSpPr>
        <p:spPr>
          <a:xfrm>
            <a:off x="621792" y="4526280"/>
            <a:ext cx="457200" cy="457200"/>
          </a:xfrm>
          <a:prstGeom prst="ellipse">
            <a:avLst/>
          </a:prstGeom>
          <a:solidFill>
            <a:srgbClr val="44505A"/>
          </a:solidFill>
          <a:ln w="12700">
            <a:solidFill>
              <a:srgbClr val="44505A"/>
            </a:solidFill>
            <a:prstDash val="solid"/>
          </a:ln>
        </p:spPr>
      </p:sp>
      <p:sp>
        <p:nvSpPr>
          <p:cNvPr id="13" name="Text 11"/>
          <p:cNvSpPr/>
          <p:nvPr/>
        </p:nvSpPr>
        <p:spPr>
          <a:xfrm>
            <a:off x="621792"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80160" y="4507992"/>
            <a:ext cx="446227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A heavy act</a:t>
            </a:r>
            <a:endParaRPr lang="en-US" sz="1500" dirty="0"/>
          </a:p>
        </p:txBody>
      </p:sp>
      <p:sp>
        <p:nvSpPr>
          <p:cNvPr id="15" name="Text 13"/>
          <p:cNvSpPr/>
          <p:nvPr/>
        </p:nvSpPr>
        <p:spPr>
          <a:xfrm>
            <a:off x="1280160" y="4782312"/>
            <a:ext cx="4462272" cy="105156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A property transfer or an inheritance release. Every signal, plus a human notary who reads the report.</a:t>
            </a:r>
            <a:endParaRPr lang="en-US" sz="1300" dirty="0"/>
          </a:p>
        </p:txBody>
      </p:sp>
      <p:sp>
        <p:nvSpPr>
          <p:cNvPr id="16" name="Shape 14"/>
          <p:cNvSpPr/>
          <p:nvPr/>
        </p:nvSpPr>
        <p:spPr>
          <a:xfrm>
            <a:off x="6263640" y="1783080"/>
            <a:ext cx="5303520" cy="1965960"/>
          </a:xfrm>
          <a:prstGeom prst="roundRect">
            <a:avLst>
              <a:gd name="adj" fmla="val 4651"/>
            </a:avLst>
          </a:prstGeom>
          <a:solidFill>
            <a:srgbClr val="F0F1F2"/>
          </a:solidFill>
          <a:ln w="12700">
            <a:solidFill>
              <a:srgbClr val="F0F1F2"/>
            </a:solidFill>
            <a:prstDash val="solid"/>
          </a:ln>
        </p:spPr>
      </p:sp>
      <p:sp>
        <p:nvSpPr>
          <p:cNvPr id="17" name="Shape 15"/>
          <p:cNvSpPr/>
          <p:nvPr/>
        </p:nvSpPr>
        <p:spPr>
          <a:xfrm>
            <a:off x="6519672" y="2020824"/>
            <a:ext cx="310896" cy="310896"/>
          </a:xfrm>
          <a:prstGeom prst="ellipse">
            <a:avLst/>
          </a:prstGeom>
          <a:solidFill>
            <a:srgbClr val="C9A227"/>
          </a:solidFill>
          <a:ln w="12700">
            <a:solidFill>
              <a:srgbClr val="C9A227"/>
            </a:solidFill>
            <a:prstDash val="solid"/>
          </a:ln>
        </p:spPr>
      </p:sp>
      <p:sp>
        <p:nvSpPr>
          <p:cNvPr id="18" name="Text 16"/>
          <p:cNvSpPr/>
          <p:nvPr/>
        </p:nvSpPr>
        <p:spPr>
          <a:xfrm>
            <a:off x="6949440" y="2002536"/>
            <a:ext cx="438912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Why this is the whole idea</a:t>
            </a:r>
            <a:endParaRPr lang="en-US" sz="1450" dirty="0"/>
          </a:p>
        </p:txBody>
      </p:sp>
      <p:sp>
        <p:nvSpPr>
          <p:cNvPr id="19" name="Text 17"/>
          <p:cNvSpPr/>
          <p:nvPr/>
        </p:nvSpPr>
        <p:spPr>
          <a:xfrm>
            <a:off x="6519672" y="2441448"/>
            <a:ext cx="4791456" cy="109728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Today every act gets the same answer, which is come to the consulate. That is far too heavy for the small ones and, on its own, not even the strongest option for the large ones.</a:t>
            </a:r>
            <a:endParaRPr lang="en-US" sz="1250" dirty="0"/>
          </a:p>
        </p:txBody>
      </p:sp>
      <p:sp>
        <p:nvSpPr>
          <p:cNvPr id="20" name="Shape 18"/>
          <p:cNvSpPr/>
          <p:nvPr/>
        </p:nvSpPr>
        <p:spPr>
          <a:xfrm>
            <a:off x="6263640" y="4023360"/>
            <a:ext cx="5303520" cy="1965960"/>
          </a:xfrm>
          <a:prstGeom prst="roundRect">
            <a:avLst>
              <a:gd name="adj" fmla="val 4651"/>
            </a:avLst>
          </a:prstGeom>
          <a:solidFill>
            <a:srgbClr val="F0F1F2"/>
          </a:solidFill>
          <a:ln w="12700">
            <a:solidFill>
              <a:srgbClr val="F0F1F2"/>
            </a:solidFill>
            <a:prstDash val="solid"/>
          </a:ln>
        </p:spPr>
      </p:sp>
      <p:sp>
        <p:nvSpPr>
          <p:cNvPr id="21" name="Shape 19"/>
          <p:cNvSpPr/>
          <p:nvPr/>
        </p:nvSpPr>
        <p:spPr>
          <a:xfrm>
            <a:off x="6519672" y="4261104"/>
            <a:ext cx="310896" cy="310896"/>
          </a:xfrm>
          <a:prstGeom prst="ellipse">
            <a:avLst/>
          </a:prstGeom>
          <a:solidFill>
            <a:srgbClr val="C9A227"/>
          </a:solidFill>
          <a:ln w="12700">
            <a:solidFill>
              <a:srgbClr val="C9A227"/>
            </a:solidFill>
            <a:prstDash val="solid"/>
          </a:ln>
        </p:spPr>
      </p:sp>
      <p:sp>
        <p:nvSpPr>
          <p:cNvPr id="22" name="Text 20"/>
          <p:cNvSpPr/>
          <p:nvPr/>
        </p:nvSpPr>
        <p:spPr>
          <a:xfrm>
            <a:off x="6949440" y="4242816"/>
            <a:ext cx="438912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The agent states its level</a:t>
            </a:r>
            <a:endParaRPr lang="en-US" sz="1450" dirty="0"/>
          </a:p>
        </p:txBody>
      </p:sp>
      <p:sp>
        <p:nvSpPr>
          <p:cNvPr id="23" name="Text 21"/>
          <p:cNvSpPr/>
          <p:nvPr/>
        </p:nvSpPr>
        <p:spPr>
          <a:xfrm>
            <a:off x="6519672" y="4681728"/>
            <a:ext cx="4791456" cy="109728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It never says yes or no on a heavy act. It reports the level of assurance it reached and the signals behind it, and a person decides with that in hand.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AI AGENT LOGIC</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How the agent decides, step by step</a:t>
            </a:r>
            <a:endParaRPr lang="en-US" sz="3600" dirty="0"/>
          </a:p>
        </p:txBody>
      </p:sp>
      <p:sp>
        <p:nvSpPr>
          <p:cNvPr id="4" name="Shape 2"/>
          <p:cNvSpPr/>
          <p:nvPr/>
        </p:nvSpPr>
        <p:spPr>
          <a:xfrm>
            <a:off x="621792" y="1783080"/>
            <a:ext cx="457200" cy="457200"/>
          </a:xfrm>
          <a:prstGeom prst="ellipse">
            <a:avLst/>
          </a:prstGeom>
          <a:solidFill>
            <a:srgbClr val="44505A"/>
          </a:solidFill>
          <a:ln w="12700">
            <a:solidFill>
              <a:srgbClr val="44505A"/>
            </a:solidFill>
            <a:prstDash val="solid"/>
          </a:ln>
        </p:spPr>
      </p:sp>
      <p:sp>
        <p:nvSpPr>
          <p:cNvPr id="5" name="Text 3"/>
          <p:cNvSpPr/>
          <p:nvPr/>
        </p:nvSpPr>
        <p:spPr>
          <a:xfrm>
            <a:off x="621792"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80160" y="1764792"/>
            <a:ext cx="446227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An act is opened</a:t>
            </a:r>
            <a:endParaRPr lang="en-US" sz="1500" dirty="0"/>
          </a:p>
        </p:txBody>
      </p:sp>
      <p:sp>
        <p:nvSpPr>
          <p:cNvPr id="7" name="Text 5"/>
          <p:cNvSpPr/>
          <p:nvPr/>
        </p:nvSpPr>
        <p:spPr>
          <a:xfrm>
            <a:off x="1280160" y="2039112"/>
            <a:ext cx="4462272" cy="100584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The citizen starts a request in the government or notary app and declares where they are.</a:t>
            </a:r>
            <a:endParaRPr lang="en-US" sz="1300" dirty="0"/>
          </a:p>
        </p:txBody>
      </p:sp>
      <p:sp>
        <p:nvSpPr>
          <p:cNvPr id="8" name="Shape 6"/>
          <p:cNvSpPr/>
          <p:nvPr/>
        </p:nvSpPr>
        <p:spPr>
          <a:xfrm>
            <a:off x="621792" y="3108960"/>
            <a:ext cx="457200" cy="457200"/>
          </a:xfrm>
          <a:prstGeom prst="ellipse">
            <a:avLst/>
          </a:prstGeom>
          <a:solidFill>
            <a:srgbClr val="44505A"/>
          </a:solidFill>
          <a:ln w="12700">
            <a:solidFill>
              <a:srgbClr val="44505A"/>
            </a:solidFill>
            <a:prstDash val="solid"/>
          </a:ln>
        </p:spPr>
      </p:sp>
      <p:sp>
        <p:nvSpPr>
          <p:cNvPr id="9" name="Text 7"/>
          <p:cNvSpPr/>
          <p:nvPr/>
        </p:nvSpPr>
        <p:spPr>
          <a:xfrm>
            <a:off x="621792" y="3108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80160" y="3090672"/>
            <a:ext cx="446227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It reads the stakes</a:t>
            </a:r>
            <a:endParaRPr lang="en-US" sz="1500" dirty="0"/>
          </a:p>
        </p:txBody>
      </p:sp>
      <p:sp>
        <p:nvSpPr>
          <p:cNvPr id="11" name="Text 9"/>
          <p:cNvSpPr/>
          <p:nvPr/>
        </p:nvSpPr>
        <p:spPr>
          <a:xfrm>
            <a:off x="1280160" y="3364992"/>
            <a:ext cx="4462272" cy="100584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The agent looks at the kind of act and the value, and sets how much proof this one truly needs.</a:t>
            </a:r>
            <a:endParaRPr lang="en-US" sz="1300" dirty="0"/>
          </a:p>
        </p:txBody>
      </p:sp>
      <p:sp>
        <p:nvSpPr>
          <p:cNvPr id="12" name="Shape 10"/>
          <p:cNvSpPr/>
          <p:nvPr/>
        </p:nvSpPr>
        <p:spPr>
          <a:xfrm>
            <a:off x="621792" y="4434840"/>
            <a:ext cx="457200" cy="457200"/>
          </a:xfrm>
          <a:prstGeom prst="ellipse">
            <a:avLst/>
          </a:prstGeom>
          <a:solidFill>
            <a:srgbClr val="44505A"/>
          </a:solidFill>
          <a:ln w="12700">
            <a:solidFill>
              <a:srgbClr val="44505A"/>
            </a:solidFill>
            <a:prstDash val="solid"/>
          </a:ln>
        </p:spPr>
      </p:sp>
      <p:sp>
        <p:nvSpPr>
          <p:cNvPr id="13" name="Text 11"/>
          <p:cNvSpPr/>
          <p:nvPr/>
        </p:nvSpPr>
        <p:spPr>
          <a:xfrm>
            <a:off x="621792"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80160" y="4416552"/>
            <a:ext cx="446227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It confirms the line</a:t>
            </a:r>
            <a:endParaRPr lang="en-US" sz="1500" dirty="0"/>
          </a:p>
        </p:txBody>
      </p:sp>
      <p:sp>
        <p:nvSpPr>
          <p:cNvPr id="15" name="Text 13"/>
          <p:cNvSpPr/>
          <p:nvPr/>
        </p:nvSpPr>
        <p:spPr>
          <a:xfrm>
            <a:off x="1280160" y="4690872"/>
            <a:ext cx="4462272" cy="100584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The network checks the number on that phone. No code is sent, so no code can be stolen.</a:t>
            </a:r>
            <a:endParaRPr lang="en-US" sz="1300" dirty="0"/>
          </a:p>
        </p:txBody>
      </p:sp>
      <p:sp>
        <p:nvSpPr>
          <p:cNvPr id="16" name="Shape 14"/>
          <p:cNvSpPr/>
          <p:nvPr/>
        </p:nvSpPr>
        <p:spPr>
          <a:xfrm>
            <a:off x="6263640" y="1783080"/>
            <a:ext cx="457200" cy="457200"/>
          </a:xfrm>
          <a:prstGeom prst="ellipse">
            <a:avLst/>
          </a:prstGeom>
          <a:solidFill>
            <a:srgbClr val="44505A"/>
          </a:solidFill>
          <a:ln w="12700">
            <a:solidFill>
              <a:srgbClr val="44505A"/>
            </a:solidFill>
            <a:prstDash val="solid"/>
          </a:ln>
        </p:spPr>
      </p:sp>
      <p:sp>
        <p:nvSpPr>
          <p:cNvPr id="17" name="Text 15"/>
          <p:cNvSpPr/>
          <p:nvPr/>
        </p:nvSpPr>
        <p:spPr>
          <a:xfrm>
            <a:off x="6263640"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6922008" y="1764792"/>
            <a:ext cx="464515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It checks for a change</a:t>
            </a:r>
            <a:endParaRPr lang="en-US" sz="1500" dirty="0"/>
          </a:p>
        </p:txBody>
      </p:sp>
      <p:sp>
        <p:nvSpPr>
          <p:cNvPr id="19" name="Text 17"/>
          <p:cNvSpPr/>
          <p:nvPr/>
        </p:nvSpPr>
        <p:spPr>
          <a:xfrm>
            <a:off x="6922008" y="2039112"/>
            <a:ext cx="4645152" cy="100584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A recent SIM or device change matters most when it sits close to the day of the act.</a:t>
            </a:r>
            <a:endParaRPr lang="en-US" sz="1300" dirty="0"/>
          </a:p>
        </p:txBody>
      </p:sp>
      <p:sp>
        <p:nvSpPr>
          <p:cNvPr id="20" name="Shape 18"/>
          <p:cNvSpPr/>
          <p:nvPr/>
        </p:nvSpPr>
        <p:spPr>
          <a:xfrm>
            <a:off x="6263640" y="3108960"/>
            <a:ext cx="457200" cy="457200"/>
          </a:xfrm>
          <a:prstGeom prst="ellipse">
            <a:avLst/>
          </a:prstGeom>
          <a:solidFill>
            <a:srgbClr val="44505A"/>
          </a:solidFill>
          <a:ln w="12700">
            <a:solidFill>
              <a:srgbClr val="44505A"/>
            </a:solidFill>
            <a:prstDash val="solid"/>
          </a:ln>
        </p:spPr>
      </p:sp>
      <p:sp>
        <p:nvSpPr>
          <p:cNvPr id="21" name="Text 19"/>
          <p:cNvSpPr/>
          <p:nvPr/>
        </p:nvSpPr>
        <p:spPr>
          <a:xfrm>
            <a:off x="6263640" y="3108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6922008" y="3090672"/>
            <a:ext cx="464515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It checks the country</a:t>
            </a:r>
            <a:endParaRPr lang="en-US" sz="1500" dirty="0"/>
          </a:p>
        </p:txBody>
      </p:sp>
      <p:sp>
        <p:nvSpPr>
          <p:cNvPr id="23" name="Text 21"/>
          <p:cNvSpPr/>
          <p:nvPr/>
        </p:nvSpPr>
        <p:spPr>
          <a:xfrm>
            <a:off x="6922008" y="3364992"/>
            <a:ext cx="4645152" cy="100584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The declared country is compared with the roaming state and with the office that will receive the act.</a:t>
            </a:r>
            <a:endParaRPr lang="en-US" sz="1300" dirty="0"/>
          </a:p>
        </p:txBody>
      </p:sp>
      <p:sp>
        <p:nvSpPr>
          <p:cNvPr id="24" name="Shape 22"/>
          <p:cNvSpPr/>
          <p:nvPr/>
        </p:nvSpPr>
        <p:spPr>
          <a:xfrm>
            <a:off x="6263640" y="4434840"/>
            <a:ext cx="457200" cy="457200"/>
          </a:xfrm>
          <a:prstGeom prst="ellipse">
            <a:avLst/>
          </a:prstGeom>
          <a:solidFill>
            <a:srgbClr val="44505A"/>
          </a:solidFill>
          <a:ln w="12700">
            <a:solidFill>
              <a:srgbClr val="44505A"/>
            </a:solidFill>
            <a:prstDash val="solid"/>
          </a:ln>
        </p:spPr>
      </p:sp>
      <p:sp>
        <p:nvSpPr>
          <p:cNvPr id="25" name="Text 23"/>
          <p:cNvSpPr/>
          <p:nvPr/>
        </p:nvSpPr>
        <p:spPr>
          <a:xfrm>
            <a:off x="626364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6922008" y="4416552"/>
            <a:ext cx="464515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It writes the report</a:t>
            </a:r>
            <a:endParaRPr lang="en-US" sz="1500" dirty="0"/>
          </a:p>
        </p:txBody>
      </p:sp>
      <p:sp>
        <p:nvSpPr>
          <p:cNvPr id="27" name="Text 25"/>
          <p:cNvSpPr/>
          <p:nvPr/>
        </p:nvSpPr>
        <p:spPr>
          <a:xfrm>
            <a:off x="6922008" y="4690872"/>
            <a:ext cx="4645152" cy="1005840"/>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One page for the notary with the level reached, the signals used and what is still missing.</a:t>
            </a:r>
            <a:endParaRPr lang="en-US" sz="1300" dirty="0"/>
          </a:p>
        </p:txBody>
      </p:sp>
      <p:sp>
        <p:nvSpPr>
          <p:cNvPr id="28" name="Shape 26"/>
          <p:cNvSpPr/>
          <p:nvPr/>
        </p:nvSpPr>
        <p:spPr>
          <a:xfrm>
            <a:off x="594360" y="5349240"/>
            <a:ext cx="10972800" cy="777240"/>
          </a:xfrm>
          <a:prstGeom prst="roundRect">
            <a:avLst>
              <a:gd name="adj" fmla="val 14118"/>
            </a:avLst>
          </a:prstGeom>
          <a:solidFill>
            <a:srgbClr val="F0F1F2"/>
          </a:solidFill>
          <a:ln w="12700">
            <a:solidFill>
              <a:srgbClr val="F0F1F2"/>
            </a:solidFill>
            <a:prstDash val="solid"/>
          </a:ln>
        </p:spPr>
      </p:sp>
      <p:sp>
        <p:nvSpPr>
          <p:cNvPr id="29" name="Text 27"/>
          <p:cNvSpPr/>
          <p:nvPr/>
        </p:nvSpPr>
        <p:spPr>
          <a:xfrm>
            <a:off x="914400" y="5349240"/>
            <a:ext cx="10332720" cy="77724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The agent decides how much proof to gather. It never decides whether the act itself is allowed.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CAMARA APIS ON NOKIA NETWORK AS CODE</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Six network signals behind one legal act</a:t>
            </a:r>
            <a:endParaRPr lang="en-US" sz="3600" dirty="0"/>
          </a:p>
        </p:txBody>
      </p:sp>
      <p:sp>
        <p:nvSpPr>
          <p:cNvPr id="4" name="Shape 2"/>
          <p:cNvSpPr/>
          <p:nvPr/>
        </p:nvSpPr>
        <p:spPr>
          <a:xfrm>
            <a:off x="594360" y="1737360"/>
            <a:ext cx="3444240" cy="1691640"/>
          </a:xfrm>
          <a:prstGeom prst="roundRect">
            <a:avLst>
              <a:gd name="adj" fmla="val 5405"/>
            </a:avLst>
          </a:prstGeom>
          <a:solidFill>
            <a:srgbClr val="F0F1F2"/>
          </a:solidFill>
          <a:ln w="12700">
            <a:solidFill>
              <a:srgbClr val="F0F1F2"/>
            </a:solidFill>
            <a:prstDash val="solid"/>
          </a:ln>
        </p:spPr>
      </p:sp>
      <p:sp>
        <p:nvSpPr>
          <p:cNvPr id="5" name="Shape 3"/>
          <p:cNvSpPr/>
          <p:nvPr/>
        </p:nvSpPr>
        <p:spPr>
          <a:xfrm>
            <a:off x="850392" y="1975104"/>
            <a:ext cx="310896" cy="310896"/>
          </a:xfrm>
          <a:prstGeom prst="ellipse">
            <a:avLst/>
          </a:prstGeom>
          <a:solidFill>
            <a:srgbClr val="C9A227"/>
          </a:solidFill>
          <a:ln w="12700">
            <a:solidFill>
              <a:srgbClr val="C9A227"/>
            </a:solidFill>
            <a:prstDash val="solid"/>
          </a:ln>
        </p:spPr>
      </p:sp>
      <p:sp>
        <p:nvSpPr>
          <p:cNvPr id="6" name="Text 4"/>
          <p:cNvSpPr/>
          <p:nvPr/>
        </p:nvSpPr>
        <p:spPr>
          <a:xfrm>
            <a:off x="128016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Number Verification</a:t>
            </a:r>
            <a:endParaRPr lang="en-US" sz="1450" dirty="0"/>
          </a:p>
        </p:txBody>
      </p:sp>
      <p:sp>
        <p:nvSpPr>
          <p:cNvPr id="7" name="Text 5"/>
          <p:cNvSpPr/>
          <p:nvPr/>
        </p:nvSpPr>
        <p:spPr>
          <a:xfrm>
            <a:off x="850392" y="2395728"/>
            <a:ext cx="2932176" cy="8229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Proves the phone holds the number, with no code to type and nothing to forward.</a:t>
            </a:r>
            <a:endParaRPr lang="en-US" sz="1250" dirty="0"/>
          </a:p>
        </p:txBody>
      </p:sp>
      <p:sp>
        <p:nvSpPr>
          <p:cNvPr id="8" name="Shape 6"/>
          <p:cNvSpPr/>
          <p:nvPr/>
        </p:nvSpPr>
        <p:spPr>
          <a:xfrm>
            <a:off x="4358640" y="1737360"/>
            <a:ext cx="3444240" cy="1691640"/>
          </a:xfrm>
          <a:prstGeom prst="roundRect">
            <a:avLst>
              <a:gd name="adj" fmla="val 5405"/>
            </a:avLst>
          </a:prstGeom>
          <a:solidFill>
            <a:srgbClr val="F0F1F2"/>
          </a:solidFill>
          <a:ln w="12700">
            <a:solidFill>
              <a:srgbClr val="F0F1F2"/>
            </a:solidFill>
            <a:prstDash val="solid"/>
          </a:ln>
        </p:spPr>
      </p:sp>
      <p:sp>
        <p:nvSpPr>
          <p:cNvPr id="9" name="Shape 7"/>
          <p:cNvSpPr/>
          <p:nvPr/>
        </p:nvSpPr>
        <p:spPr>
          <a:xfrm>
            <a:off x="4614672" y="1975104"/>
            <a:ext cx="310896" cy="310896"/>
          </a:xfrm>
          <a:prstGeom prst="ellipse">
            <a:avLst/>
          </a:prstGeom>
          <a:solidFill>
            <a:srgbClr val="C9A227"/>
          </a:solidFill>
          <a:ln w="12700">
            <a:solidFill>
              <a:srgbClr val="C9A227"/>
            </a:solidFill>
            <a:prstDash val="solid"/>
          </a:ln>
        </p:spPr>
      </p:sp>
      <p:sp>
        <p:nvSpPr>
          <p:cNvPr id="10" name="Text 8"/>
          <p:cNvSpPr/>
          <p:nvPr/>
        </p:nvSpPr>
        <p:spPr>
          <a:xfrm>
            <a:off x="504444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SIM Swap</a:t>
            </a:r>
            <a:endParaRPr lang="en-US" sz="1450" dirty="0"/>
          </a:p>
        </p:txBody>
      </p:sp>
      <p:sp>
        <p:nvSpPr>
          <p:cNvPr id="11" name="Text 9"/>
          <p:cNvSpPr/>
          <p:nvPr/>
        </p:nvSpPr>
        <p:spPr>
          <a:xfrm>
            <a:off x="4614672" y="2395728"/>
            <a:ext cx="2932176" cy="8229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Shows the number moving to a new SIM, the first step of most takeovers.</a:t>
            </a:r>
            <a:endParaRPr lang="en-US" sz="1250" dirty="0"/>
          </a:p>
        </p:txBody>
      </p:sp>
      <p:sp>
        <p:nvSpPr>
          <p:cNvPr id="12" name="Shape 10"/>
          <p:cNvSpPr/>
          <p:nvPr/>
        </p:nvSpPr>
        <p:spPr>
          <a:xfrm>
            <a:off x="8122920" y="1737360"/>
            <a:ext cx="3444240" cy="1691640"/>
          </a:xfrm>
          <a:prstGeom prst="roundRect">
            <a:avLst>
              <a:gd name="adj" fmla="val 5405"/>
            </a:avLst>
          </a:prstGeom>
          <a:solidFill>
            <a:srgbClr val="F0F1F2"/>
          </a:solidFill>
          <a:ln w="12700">
            <a:solidFill>
              <a:srgbClr val="F0F1F2"/>
            </a:solidFill>
            <a:prstDash val="solid"/>
          </a:ln>
        </p:spPr>
      </p:sp>
      <p:sp>
        <p:nvSpPr>
          <p:cNvPr id="13" name="Shape 11"/>
          <p:cNvSpPr/>
          <p:nvPr/>
        </p:nvSpPr>
        <p:spPr>
          <a:xfrm>
            <a:off x="8378952" y="1975104"/>
            <a:ext cx="310896" cy="310896"/>
          </a:xfrm>
          <a:prstGeom prst="ellipse">
            <a:avLst/>
          </a:prstGeom>
          <a:solidFill>
            <a:srgbClr val="C9A227"/>
          </a:solidFill>
          <a:ln w="12700">
            <a:solidFill>
              <a:srgbClr val="C9A227"/>
            </a:solidFill>
            <a:prstDash val="solid"/>
          </a:ln>
        </p:spPr>
      </p:sp>
      <p:sp>
        <p:nvSpPr>
          <p:cNvPr id="14" name="Text 12"/>
          <p:cNvSpPr/>
          <p:nvPr/>
        </p:nvSpPr>
        <p:spPr>
          <a:xfrm>
            <a:off x="880872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Device Swap</a:t>
            </a:r>
            <a:endParaRPr lang="en-US" sz="1450" dirty="0"/>
          </a:p>
        </p:txBody>
      </p:sp>
      <p:sp>
        <p:nvSpPr>
          <p:cNvPr id="15" name="Text 13"/>
          <p:cNvSpPr/>
          <p:nvPr/>
        </p:nvSpPr>
        <p:spPr>
          <a:xfrm>
            <a:off x="8378952" y="2395728"/>
            <a:ext cx="2932176" cy="8229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Shows the number moving to a new phone in the days before the act.</a:t>
            </a:r>
            <a:endParaRPr lang="en-US" sz="1250" dirty="0"/>
          </a:p>
        </p:txBody>
      </p:sp>
      <p:sp>
        <p:nvSpPr>
          <p:cNvPr id="16" name="Shape 14"/>
          <p:cNvSpPr/>
          <p:nvPr/>
        </p:nvSpPr>
        <p:spPr>
          <a:xfrm>
            <a:off x="594360" y="3721608"/>
            <a:ext cx="3444240" cy="1691640"/>
          </a:xfrm>
          <a:prstGeom prst="roundRect">
            <a:avLst>
              <a:gd name="adj" fmla="val 5405"/>
            </a:avLst>
          </a:prstGeom>
          <a:solidFill>
            <a:srgbClr val="F0F1F2"/>
          </a:solidFill>
          <a:ln w="12700">
            <a:solidFill>
              <a:srgbClr val="F0F1F2"/>
            </a:solidFill>
            <a:prstDash val="solid"/>
          </a:ln>
        </p:spPr>
      </p:sp>
      <p:sp>
        <p:nvSpPr>
          <p:cNvPr id="17" name="Shape 15"/>
          <p:cNvSpPr/>
          <p:nvPr/>
        </p:nvSpPr>
        <p:spPr>
          <a:xfrm>
            <a:off x="850392" y="3959352"/>
            <a:ext cx="310896" cy="310896"/>
          </a:xfrm>
          <a:prstGeom prst="ellipse">
            <a:avLst/>
          </a:prstGeom>
          <a:solidFill>
            <a:srgbClr val="C9A227"/>
          </a:solidFill>
          <a:ln w="12700">
            <a:solidFill>
              <a:srgbClr val="C9A227"/>
            </a:solidFill>
            <a:prstDash val="solid"/>
          </a:ln>
        </p:spPr>
      </p:sp>
      <p:sp>
        <p:nvSpPr>
          <p:cNvPr id="18" name="Text 16"/>
          <p:cNvSpPr/>
          <p:nvPr/>
        </p:nvSpPr>
        <p:spPr>
          <a:xfrm>
            <a:off x="1280160" y="3941064"/>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Device Roaming Status</a:t>
            </a:r>
            <a:endParaRPr lang="en-US" sz="1450" dirty="0"/>
          </a:p>
        </p:txBody>
      </p:sp>
      <p:sp>
        <p:nvSpPr>
          <p:cNvPr id="19" name="Text 17"/>
          <p:cNvSpPr/>
          <p:nvPr/>
        </p:nvSpPr>
        <p:spPr>
          <a:xfrm>
            <a:off x="850392" y="4379976"/>
            <a:ext cx="2932176" cy="8229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Confirms the citizen really is abroad and in which country, which a consular act needs.</a:t>
            </a:r>
            <a:endParaRPr lang="en-US" sz="1250" dirty="0"/>
          </a:p>
        </p:txBody>
      </p:sp>
      <p:sp>
        <p:nvSpPr>
          <p:cNvPr id="20" name="Shape 18"/>
          <p:cNvSpPr/>
          <p:nvPr/>
        </p:nvSpPr>
        <p:spPr>
          <a:xfrm>
            <a:off x="4358640" y="3721608"/>
            <a:ext cx="3444240" cy="1691640"/>
          </a:xfrm>
          <a:prstGeom prst="roundRect">
            <a:avLst>
              <a:gd name="adj" fmla="val 5405"/>
            </a:avLst>
          </a:prstGeom>
          <a:solidFill>
            <a:srgbClr val="F0F1F2"/>
          </a:solidFill>
          <a:ln w="12700">
            <a:solidFill>
              <a:srgbClr val="F0F1F2"/>
            </a:solidFill>
            <a:prstDash val="solid"/>
          </a:ln>
        </p:spPr>
      </p:sp>
      <p:sp>
        <p:nvSpPr>
          <p:cNvPr id="21" name="Shape 19"/>
          <p:cNvSpPr/>
          <p:nvPr/>
        </p:nvSpPr>
        <p:spPr>
          <a:xfrm>
            <a:off x="4614672" y="3959352"/>
            <a:ext cx="310896" cy="310896"/>
          </a:xfrm>
          <a:prstGeom prst="ellipse">
            <a:avLst/>
          </a:prstGeom>
          <a:solidFill>
            <a:srgbClr val="C9A227"/>
          </a:solidFill>
          <a:ln w="12700">
            <a:solidFill>
              <a:srgbClr val="C9A227"/>
            </a:solidFill>
            <a:prstDash val="solid"/>
          </a:ln>
        </p:spPr>
      </p:sp>
      <p:sp>
        <p:nvSpPr>
          <p:cNvPr id="22" name="Text 20"/>
          <p:cNvSpPr/>
          <p:nvPr/>
        </p:nvSpPr>
        <p:spPr>
          <a:xfrm>
            <a:off x="5044440" y="3941064"/>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Location Verification</a:t>
            </a:r>
            <a:endParaRPr lang="en-US" sz="1450" dirty="0"/>
          </a:p>
        </p:txBody>
      </p:sp>
      <p:sp>
        <p:nvSpPr>
          <p:cNvPr id="23" name="Text 21"/>
          <p:cNvSpPr/>
          <p:nvPr/>
        </p:nvSpPr>
        <p:spPr>
          <a:xfrm>
            <a:off x="4614672" y="4379976"/>
            <a:ext cx="2932176" cy="8229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A yes or no about a declared city. No track of daily life is built.</a:t>
            </a:r>
            <a:endParaRPr lang="en-US" sz="1250" dirty="0"/>
          </a:p>
        </p:txBody>
      </p:sp>
      <p:sp>
        <p:nvSpPr>
          <p:cNvPr id="24" name="Shape 22"/>
          <p:cNvSpPr/>
          <p:nvPr/>
        </p:nvSpPr>
        <p:spPr>
          <a:xfrm>
            <a:off x="8122920" y="3721608"/>
            <a:ext cx="3444240" cy="1691640"/>
          </a:xfrm>
          <a:prstGeom prst="roundRect">
            <a:avLst>
              <a:gd name="adj" fmla="val 5405"/>
            </a:avLst>
          </a:prstGeom>
          <a:solidFill>
            <a:srgbClr val="F0F1F2"/>
          </a:solidFill>
          <a:ln w="12700">
            <a:solidFill>
              <a:srgbClr val="F0F1F2"/>
            </a:solidFill>
            <a:prstDash val="solid"/>
          </a:ln>
        </p:spPr>
      </p:sp>
      <p:sp>
        <p:nvSpPr>
          <p:cNvPr id="25" name="Shape 23"/>
          <p:cNvSpPr/>
          <p:nvPr/>
        </p:nvSpPr>
        <p:spPr>
          <a:xfrm>
            <a:off x="8378952" y="3959352"/>
            <a:ext cx="310896" cy="310896"/>
          </a:xfrm>
          <a:prstGeom prst="ellipse">
            <a:avLst/>
          </a:prstGeom>
          <a:solidFill>
            <a:srgbClr val="C9A227"/>
          </a:solidFill>
          <a:ln w="12700">
            <a:solidFill>
              <a:srgbClr val="C9A227"/>
            </a:solidFill>
            <a:prstDash val="solid"/>
          </a:ln>
        </p:spPr>
      </p:sp>
      <p:sp>
        <p:nvSpPr>
          <p:cNvPr id="26" name="Text 24"/>
          <p:cNvSpPr/>
          <p:nvPr/>
        </p:nvSpPr>
        <p:spPr>
          <a:xfrm>
            <a:off x="8808720" y="3941064"/>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Device Reachability</a:t>
            </a:r>
            <a:endParaRPr lang="en-US" sz="1450" dirty="0"/>
          </a:p>
        </p:txBody>
      </p:sp>
      <p:sp>
        <p:nvSpPr>
          <p:cNvPr id="27" name="Text 25"/>
          <p:cNvSpPr/>
          <p:nvPr/>
        </p:nvSpPr>
        <p:spPr>
          <a:xfrm>
            <a:off x="8378952" y="4379976"/>
            <a:ext cx="2932176" cy="8229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Makes sure a question or a hold can actually reach the citizen before it is sent.</a:t>
            </a:r>
            <a:endParaRPr lang="en-US" sz="1250" dirty="0"/>
          </a:p>
        </p:txBody>
      </p:sp>
      <p:sp>
        <p:nvSpPr>
          <p:cNvPr id="28" name="Text 26"/>
          <p:cNvSpPr/>
          <p:nvPr/>
        </p:nvSpPr>
        <p:spPr>
          <a:xfrm>
            <a:off x="594360" y="5669280"/>
            <a:ext cx="10972800" cy="320040"/>
          </a:xfrm>
          <a:prstGeom prst="rect">
            <a:avLst/>
          </a:prstGeom>
          <a:noFill/>
          <a:ln/>
        </p:spPr>
        <p:txBody>
          <a:bodyPr wrap="square" lIns="0" tIns="0" rIns="0" bIns="0" rtlCol="0" anchor="ctr"/>
          <a:lstStyle/>
          <a:p>
            <a:pPr indent="0" marL="0">
              <a:buNone/>
            </a:pPr>
            <a:r>
              <a:rPr lang="en-US" sz="1100" i="1" dirty="0">
                <a:solidFill>
                  <a:srgbClr val="6E767E"/>
                </a:solidFill>
                <a:latin typeface="Calibri" pitchFamily="34" charset="0"/>
                <a:ea typeface="Calibri" pitchFamily="34" charset="-122"/>
                <a:cs typeface="Calibri" pitchFamily="34" charset="-120"/>
              </a:rPr>
              <a:t>All six are wired in the working prototype. 7 scenarios, all reaching the outcome they claim, at 42.9% less than calling every check.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One request, one signed report</a:t>
            </a:r>
            <a:endParaRPr lang="en-US" sz="3600" dirty="0"/>
          </a:p>
        </p:txBody>
      </p:sp>
      <p:sp>
        <p:nvSpPr>
          <p:cNvPr id="4" name="Shape 2"/>
          <p:cNvSpPr/>
          <p:nvPr/>
        </p:nvSpPr>
        <p:spPr>
          <a:xfrm>
            <a:off x="594360" y="1783080"/>
            <a:ext cx="2455164" cy="1965960"/>
          </a:xfrm>
          <a:prstGeom prst="roundRect">
            <a:avLst>
              <a:gd name="adj" fmla="val 4651"/>
            </a:avLst>
          </a:prstGeom>
          <a:solidFill>
            <a:srgbClr val="F0F1F2"/>
          </a:solidFill>
          <a:ln w="12700">
            <a:solidFill>
              <a:srgbClr val="F0F1F2"/>
            </a:solidFill>
            <a:prstDash val="solid"/>
          </a:ln>
        </p:spPr>
      </p:sp>
      <p:sp>
        <p:nvSpPr>
          <p:cNvPr id="5" name="Text 3"/>
          <p:cNvSpPr/>
          <p:nvPr/>
        </p:nvSpPr>
        <p:spPr>
          <a:xfrm>
            <a:off x="777240" y="1984248"/>
            <a:ext cx="2089404" cy="548640"/>
          </a:xfrm>
          <a:prstGeom prst="rect">
            <a:avLst/>
          </a:prstGeom>
          <a:noFill/>
          <a:ln/>
        </p:spPr>
        <p:txBody>
          <a:bodyPr wrap="square" lIns="0" tIns="0" rIns="0" bIns="0" rtlCol="0" anchor="ctr"/>
          <a:lstStyle/>
          <a:p>
            <a:pPr algn="ctr" indent="0" marL="0">
              <a:buNone/>
            </a:pPr>
            <a:r>
              <a:rPr lang="en-US" sz="1450" b="1" dirty="0">
                <a:solidFill>
                  <a:srgbClr val="23282D"/>
                </a:solidFill>
                <a:latin typeface="Calibri" pitchFamily="34" charset="0"/>
                <a:ea typeface="Calibri" pitchFamily="34" charset="-122"/>
                <a:cs typeface="Calibri" pitchFamily="34" charset="-120"/>
              </a:rPr>
              <a:t>Government or notary app</a:t>
            </a:r>
            <a:endParaRPr lang="en-US" sz="1450" dirty="0"/>
          </a:p>
        </p:txBody>
      </p:sp>
      <p:sp>
        <p:nvSpPr>
          <p:cNvPr id="6" name="Text 4"/>
          <p:cNvSpPr/>
          <p:nvPr/>
        </p:nvSpPr>
        <p:spPr>
          <a:xfrm>
            <a:off x="758952" y="2532888"/>
            <a:ext cx="2125980" cy="1051560"/>
          </a:xfrm>
          <a:prstGeom prst="rect">
            <a:avLst/>
          </a:prstGeom>
          <a:noFill/>
          <a:ln/>
        </p:spPr>
        <p:txBody>
          <a:bodyPr wrap="square" lIns="0" tIns="0" rIns="0" bIns="0" rtlCol="0" anchor="t"/>
          <a:lstStyle/>
          <a:p>
            <a:pPr algn="ctr" indent="0" marL="0">
              <a:lnSpc>
                <a:spcPct val="112000"/>
              </a:lnSpc>
              <a:buNone/>
            </a:pPr>
            <a:r>
              <a:rPr lang="en-US" sz="1150" dirty="0">
                <a:solidFill>
                  <a:srgbClr val="3C434A"/>
                </a:solidFill>
                <a:latin typeface="Calibri" pitchFamily="34" charset="0"/>
                <a:ea typeface="Calibri" pitchFamily="34" charset="-122"/>
                <a:cs typeface="Calibri" pitchFamily="34" charset="-120"/>
              </a:rPr>
              <a:t>Sends the act, its value and the country the citizen declared.</a:t>
            </a:r>
            <a:endParaRPr lang="en-US" sz="1150" dirty="0"/>
          </a:p>
        </p:txBody>
      </p:sp>
      <p:sp>
        <p:nvSpPr>
          <p:cNvPr id="7" name="Shape 5"/>
          <p:cNvSpPr/>
          <p:nvPr/>
        </p:nvSpPr>
        <p:spPr>
          <a:xfrm>
            <a:off x="3104388" y="2647188"/>
            <a:ext cx="274320" cy="237744"/>
          </a:xfrm>
          <a:prstGeom prst="rightArrow">
            <a:avLst/>
          </a:prstGeom>
          <a:solidFill>
            <a:srgbClr val="C9A227"/>
          </a:solidFill>
          <a:ln w="12700">
            <a:solidFill>
              <a:srgbClr val="C9A227"/>
            </a:solidFill>
            <a:prstDash val="solid"/>
          </a:ln>
        </p:spPr>
      </p:sp>
      <p:sp>
        <p:nvSpPr>
          <p:cNvPr id="8" name="Shape 6"/>
          <p:cNvSpPr/>
          <p:nvPr/>
        </p:nvSpPr>
        <p:spPr>
          <a:xfrm>
            <a:off x="3433572" y="1783080"/>
            <a:ext cx="2455164" cy="1965960"/>
          </a:xfrm>
          <a:prstGeom prst="roundRect">
            <a:avLst>
              <a:gd name="adj" fmla="val 4651"/>
            </a:avLst>
          </a:prstGeom>
          <a:solidFill>
            <a:srgbClr val="44505A"/>
          </a:solidFill>
          <a:ln w="12700">
            <a:solidFill>
              <a:srgbClr val="44505A"/>
            </a:solidFill>
            <a:prstDash val="solid"/>
          </a:ln>
        </p:spPr>
      </p:sp>
      <p:sp>
        <p:nvSpPr>
          <p:cNvPr id="9" name="Text 7"/>
          <p:cNvSpPr/>
          <p:nvPr/>
        </p:nvSpPr>
        <p:spPr>
          <a:xfrm>
            <a:off x="3616452" y="1984248"/>
            <a:ext cx="2089404" cy="5486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Wakala agent core</a:t>
            </a:r>
            <a:endParaRPr lang="en-US" sz="1450" dirty="0"/>
          </a:p>
        </p:txBody>
      </p:sp>
      <p:sp>
        <p:nvSpPr>
          <p:cNvPr id="10" name="Text 8"/>
          <p:cNvSpPr/>
          <p:nvPr/>
        </p:nvSpPr>
        <p:spPr>
          <a:xfrm>
            <a:off x="3598164" y="2532888"/>
            <a:ext cx="2125980" cy="1051560"/>
          </a:xfrm>
          <a:prstGeom prst="rect">
            <a:avLst/>
          </a:prstGeom>
          <a:noFill/>
          <a:ln/>
        </p:spPr>
        <p:txBody>
          <a:bodyPr wrap="square" lIns="0" tIns="0" rIns="0" bIns="0" rtlCol="0" anchor="t"/>
          <a:lstStyle/>
          <a:p>
            <a:pPr algn="ctr" indent="0" marL="0">
              <a:lnSpc>
                <a:spcPct val="112000"/>
              </a:lnSpc>
              <a:buNone/>
            </a:pPr>
            <a:r>
              <a:rPr lang="en-US" sz="1150" dirty="0">
                <a:solidFill>
                  <a:srgbClr val="D2D7DC"/>
                </a:solidFill>
                <a:latin typeface="Calibri" pitchFamily="34" charset="0"/>
                <a:ea typeface="Calibri" pitchFamily="34" charset="-122"/>
                <a:cs typeface="Calibri" pitchFamily="34" charset="-120"/>
              </a:rPr>
              <a:t>Sets the proof level, gathers the signals and writes the notary report.</a:t>
            </a:r>
            <a:endParaRPr lang="en-US" sz="1150" dirty="0"/>
          </a:p>
        </p:txBody>
      </p:sp>
      <p:sp>
        <p:nvSpPr>
          <p:cNvPr id="11" name="Shape 9"/>
          <p:cNvSpPr/>
          <p:nvPr/>
        </p:nvSpPr>
        <p:spPr>
          <a:xfrm>
            <a:off x="5943600" y="2647188"/>
            <a:ext cx="274320" cy="237744"/>
          </a:xfrm>
          <a:prstGeom prst="rightArrow">
            <a:avLst/>
          </a:prstGeom>
          <a:solidFill>
            <a:srgbClr val="C9A227"/>
          </a:solidFill>
          <a:ln w="12700">
            <a:solidFill>
              <a:srgbClr val="C9A227"/>
            </a:solidFill>
            <a:prstDash val="solid"/>
          </a:ln>
        </p:spPr>
      </p:sp>
      <p:sp>
        <p:nvSpPr>
          <p:cNvPr id="12" name="Shape 10"/>
          <p:cNvSpPr/>
          <p:nvPr/>
        </p:nvSpPr>
        <p:spPr>
          <a:xfrm>
            <a:off x="6272784" y="1783080"/>
            <a:ext cx="2455164" cy="1965960"/>
          </a:xfrm>
          <a:prstGeom prst="roundRect">
            <a:avLst>
              <a:gd name="adj" fmla="val 4651"/>
            </a:avLst>
          </a:prstGeom>
          <a:solidFill>
            <a:srgbClr val="F0F1F2"/>
          </a:solidFill>
          <a:ln w="12700">
            <a:solidFill>
              <a:srgbClr val="F0F1F2"/>
            </a:solidFill>
            <a:prstDash val="solid"/>
          </a:ln>
        </p:spPr>
      </p:sp>
      <p:sp>
        <p:nvSpPr>
          <p:cNvPr id="13" name="Text 11"/>
          <p:cNvSpPr/>
          <p:nvPr/>
        </p:nvSpPr>
        <p:spPr>
          <a:xfrm>
            <a:off x="6455664" y="1984248"/>
            <a:ext cx="2089404" cy="548640"/>
          </a:xfrm>
          <a:prstGeom prst="rect">
            <a:avLst/>
          </a:prstGeom>
          <a:noFill/>
          <a:ln/>
        </p:spPr>
        <p:txBody>
          <a:bodyPr wrap="square" lIns="0" tIns="0" rIns="0" bIns="0" rtlCol="0" anchor="ctr"/>
          <a:lstStyle/>
          <a:p>
            <a:pPr algn="ctr" indent="0" marL="0">
              <a:buNone/>
            </a:pPr>
            <a:r>
              <a:rPr lang="en-US" sz="1450" b="1" dirty="0">
                <a:solidFill>
                  <a:srgbClr val="23282D"/>
                </a:solidFill>
                <a:latin typeface="Calibri" pitchFamily="34" charset="0"/>
                <a:ea typeface="Calibri" pitchFamily="34" charset="-122"/>
                <a:cs typeface="Calibri" pitchFamily="34" charset="-120"/>
              </a:rPr>
              <a:t>Nokia Network as Code</a:t>
            </a:r>
            <a:endParaRPr lang="en-US" sz="1450" dirty="0"/>
          </a:p>
        </p:txBody>
      </p:sp>
      <p:sp>
        <p:nvSpPr>
          <p:cNvPr id="14" name="Text 12"/>
          <p:cNvSpPr/>
          <p:nvPr/>
        </p:nvSpPr>
        <p:spPr>
          <a:xfrm>
            <a:off x="6437376" y="2532888"/>
            <a:ext cx="2125980" cy="1051560"/>
          </a:xfrm>
          <a:prstGeom prst="rect">
            <a:avLst/>
          </a:prstGeom>
          <a:noFill/>
          <a:ln/>
        </p:spPr>
        <p:txBody>
          <a:bodyPr wrap="square" lIns="0" tIns="0" rIns="0" bIns="0" rtlCol="0" anchor="t"/>
          <a:lstStyle/>
          <a:p>
            <a:pPr algn="ctr" indent="0" marL="0">
              <a:lnSpc>
                <a:spcPct val="112000"/>
              </a:lnSpc>
              <a:buNone/>
            </a:pPr>
            <a:r>
              <a:rPr lang="en-US" sz="1150" dirty="0">
                <a:solidFill>
                  <a:srgbClr val="3C434A"/>
                </a:solidFill>
                <a:latin typeface="Calibri" pitchFamily="34" charset="0"/>
                <a:ea typeface="Calibri" pitchFamily="34" charset="-122"/>
                <a:cs typeface="Calibri" pitchFamily="34" charset="-120"/>
              </a:rPr>
              <a:t>Keys, quotas, consent tokens and the simulator numbers for the demo.</a:t>
            </a:r>
            <a:endParaRPr lang="en-US" sz="1150" dirty="0"/>
          </a:p>
        </p:txBody>
      </p:sp>
      <p:sp>
        <p:nvSpPr>
          <p:cNvPr id="15" name="Shape 13"/>
          <p:cNvSpPr/>
          <p:nvPr/>
        </p:nvSpPr>
        <p:spPr>
          <a:xfrm>
            <a:off x="8782812" y="2647188"/>
            <a:ext cx="274320" cy="237744"/>
          </a:xfrm>
          <a:prstGeom prst="rightArrow">
            <a:avLst/>
          </a:prstGeom>
          <a:solidFill>
            <a:srgbClr val="C9A227"/>
          </a:solidFill>
          <a:ln w="12700">
            <a:solidFill>
              <a:srgbClr val="C9A227"/>
            </a:solidFill>
            <a:prstDash val="solid"/>
          </a:ln>
        </p:spPr>
      </p:sp>
      <p:sp>
        <p:nvSpPr>
          <p:cNvPr id="16" name="Shape 14"/>
          <p:cNvSpPr/>
          <p:nvPr/>
        </p:nvSpPr>
        <p:spPr>
          <a:xfrm>
            <a:off x="9111996" y="1783080"/>
            <a:ext cx="2455164" cy="1965960"/>
          </a:xfrm>
          <a:prstGeom prst="roundRect">
            <a:avLst>
              <a:gd name="adj" fmla="val 4651"/>
            </a:avLst>
          </a:prstGeom>
          <a:solidFill>
            <a:srgbClr val="F0F1F2"/>
          </a:solidFill>
          <a:ln w="12700">
            <a:solidFill>
              <a:srgbClr val="F0F1F2"/>
            </a:solidFill>
            <a:prstDash val="solid"/>
          </a:ln>
        </p:spPr>
      </p:sp>
      <p:sp>
        <p:nvSpPr>
          <p:cNvPr id="17" name="Text 15"/>
          <p:cNvSpPr/>
          <p:nvPr/>
        </p:nvSpPr>
        <p:spPr>
          <a:xfrm>
            <a:off x="9294876" y="1984248"/>
            <a:ext cx="2089404" cy="548640"/>
          </a:xfrm>
          <a:prstGeom prst="rect">
            <a:avLst/>
          </a:prstGeom>
          <a:noFill/>
          <a:ln/>
        </p:spPr>
        <p:txBody>
          <a:bodyPr wrap="square" lIns="0" tIns="0" rIns="0" bIns="0" rtlCol="0" anchor="ctr"/>
          <a:lstStyle/>
          <a:p>
            <a:pPr algn="ctr" indent="0" marL="0">
              <a:buNone/>
            </a:pPr>
            <a:r>
              <a:rPr lang="en-US" sz="1450" b="1" dirty="0">
                <a:solidFill>
                  <a:srgbClr val="23282D"/>
                </a:solidFill>
                <a:latin typeface="Calibri" pitchFamily="34" charset="0"/>
                <a:ea typeface="Calibri" pitchFamily="34" charset="-122"/>
                <a:cs typeface="Calibri" pitchFamily="34" charset="-120"/>
              </a:rPr>
              <a:t>CAMARA APIs</a:t>
            </a:r>
            <a:endParaRPr lang="en-US" sz="1450" dirty="0"/>
          </a:p>
        </p:txBody>
      </p:sp>
      <p:sp>
        <p:nvSpPr>
          <p:cNvPr id="18" name="Text 16"/>
          <p:cNvSpPr/>
          <p:nvPr/>
        </p:nvSpPr>
        <p:spPr>
          <a:xfrm>
            <a:off x="9276588" y="2532888"/>
            <a:ext cx="2125980" cy="1051560"/>
          </a:xfrm>
          <a:prstGeom prst="rect">
            <a:avLst/>
          </a:prstGeom>
          <a:noFill/>
          <a:ln/>
        </p:spPr>
        <p:txBody>
          <a:bodyPr wrap="square" lIns="0" tIns="0" rIns="0" bIns="0" rtlCol="0" anchor="t"/>
          <a:lstStyle/>
          <a:p>
            <a:pPr algn="ctr" indent="0" marL="0">
              <a:lnSpc>
                <a:spcPct val="112000"/>
              </a:lnSpc>
              <a:buNone/>
            </a:pPr>
            <a:r>
              <a:rPr lang="en-US" sz="1150" dirty="0">
                <a:solidFill>
                  <a:srgbClr val="3C434A"/>
                </a:solidFill>
                <a:latin typeface="Calibri" pitchFamily="34" charset="0"/>
                <a:ea typeface="Calibri" pitchFamily="34" charset="-122"/>
                <a:cs typeface="Calibri" pitchFamily="34" charset="-120"/>
              </a:rPr>
              <a:t>Number, SIM, device, roaming, location and reachability signals.</a:t>
            </a:r>
            <a:endParaRPr lang="en-US" sz="1150" dirty="0"/>
          </a:p>
        </p:txBody>
      </p:sp>
      <p:sp>
        <p:nvSpPr>
          <p:cNvPr id="19" name="Shape 17"/>
          <p:cNvSpPr/>
          <p:nvPr/>
        </p:nvSpPr>
        <p:spPr>
          <a:xfrm>
            <a:off x="594360" y="4069080"/>
            <a:ext cx="3444240" cy="1463040"/>
          </a:xfrm>
          <a:prstGeom prst="roundRect">
            <a:avLst>
              <a:gd name="adj" fmla="val 6250"/>
            </a:avLst>
          </a:prstGeom>
          <a:solidFill>
            <a:srgbClr val="F0F1F2"/>
          </a:solidFill>
          <a:ln w="12700">
            <a:solidFill>
              <a:srgbClr val="F0F1F2"/>
            </a:solidFill>
            <a:prstDash val="solid"/>
          </a:ln>
        </p:spPr>
      </p:sp>
      <p:sp>
        <p:nvSpPr>
          <p:cNvPr id="20" name="Shape 18"/>
          <p:cNvSpPr/>
          <p:nvPr/>
        </p:nvSpPr>
        <p:spPr>
          <a:xfrm>
            <a:off x="850392" y="4306824"/>
            <a:ext cx="310896" cy="310896"/>
          </a:xfrm>
          <a:prstGeom prst="ellipse">
            <a:avLst/>
          </a:prstGeom>
          <a:solidFill>
            <a:srgbClr val="C9A227"/>
          </a:solidFill>
          <a:ln w="12700">
            <a:solidFill>
              <a:srgbClr val="C9A227"/>
            </a:solidFill>
            <a:prstDash val="solid"/>
          </a:ln>
        </p:spPr>
      </p:sp>
      <p:sp>
        <p:nvSpPr>
          <p:cNvPr id="21" name="Text 19"/>
          <p:cNvSpPr/>
          <p:nvPr/>
        </p:nvSpPr>
        <p:spPr>
          <a:xfrm>
            <a:off x="1280160" y="428853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Consent at the moment of use</a:t>
            </a:r>
            <a:endParaRPr lang="en-US" sz="1450" dirty="0"/>
          </a:p>
        </p:txBody>
      </p:sp>
      <p:sp>
        <p:nvSpPr>
          <p:cNvPr id="22" name="Text 20"/>
          <p:cNvSpPr/>
          <p:nvPr/>
        </p:nvSpPr>
        <p:spPr>
          <a:xfrm>
            <a:off x="850392" y="4727448"/>
            <a:ext cx="2932176" cy="5943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The citizen is the one asking for the act, so consent is given right there and covers that act only.</a:t>
            </a:r>
            <a:endParaRPr lang="en-US" sz="1250" dirty="0"/>
          </a:p>
        </p:txBody>
      </p:sp>
      <p:sp>
        <p:nvSpPr>
          <p:cNvPr id="23" name="Shape 21"/>
          <p:cNvSpPr/>
          <p:nvPr/>
        </p:nvSpPr>
        <p:spPr>
          <a:xfrm>
            <a:off x="4358640" y="4069080"/>
            <a:ext cx="3444240" cy="1463040"/>
          </a:xfrm>
          <a:prstGeom prst="roundRect">
            <a:avLst>
              <a:gd name="adj" fmla="val 6250"/>
            </a:avLst>
          </a:prstGeom>
          <a:solidFill>
            <a:srgbClr val="F0F1F2"/>
          </a:solidFill>
          <a:ln w="12700">
            <a:solidFill>
              <a:srgbClr val="F0F1F2"/>
            </a:solidFill>
            <a:prstDash val="solid"/>
          </a:ln>
        </p:spPr>
      </p:sp>
      <p:sp>
        <p:nvSpPr>
          <p:cNvPr id="24" name="Shape 22"/>
          <p:cNvSpPr/>
          <p:nvPr/>
        </p:nvSpPr>
        <p:spPr>
          <a:xfrm>
            <a:off x="4614672" y="4306824"/>
            <a:ext cx="310896" cy="310896"/>
          </a:xfrm>
          <a:prstGeom prst="ellipse">
            <a:avLst/>
          </a:prstGeom>
          <a:solidFill>
            <a:srgbClr val="C9A227"/>
          </a:solidFill>
          <a:ln w="12700">
            <a:solidFill>
              <a:srgbClr val="C9A227"/>
            </a:solidFill>
            <a:prstDash val="solid"/>
          </a:ln>
        </p:spPr>
      </p:sp>
      <p:sp>
        <p:nvSpPr>
          <p:cNvPr id="25" name="Text 23"/>
          <p:cNvSpPr/>
          <p:nvPr/>
        </p:nvSpPr>
        <p:spPr>
          <a:xfrm>
            <a:off x="5044440" y="428853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A record that survives a court</a:t>
            </a:r>
            <a:endParaRPr lang="en-US" sz="1450" dirty="0"/>
          </a:p>
        </p:txBody>
      </p:sp>
      <p:sp>
        <p:nvSpPr>
          <p:cNvPr id="26" name="Text 24"/>
          <p:cNvSpPr/>
          <p:nvPr/>
        </p:nvSpPr>
        <p:spPr>
          <a:xfrm>
            <a:off x="4614672" y="4727448"/>
            <a:ext cx="2932176" cy="5943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Every report keeps the signals, the time and the level, so a dispute years later has something to read.</a:t>
            </a:r>
            <a:endParaRPr lang="en-US" sz="1250" dirty="0"/>
          </a:p>
        </p:txBody>
      </p:sp>
      <p:sp>
        <p:nvSpPr>
          <p:cNvPr id="27" name="Shape 25"/>
          <p:cNvSpPr/>
          <p:nvPr/>
        </p:nvSpPr>
        <p:spPr>
          <a:xfrm>
            <a:off x="8122920" y="4069080"/>
            <a:ext cx="3444240" cy="1463040"/>
          </a:xfrm>
          <a:prstGeom prst="roundRect">
            <a:avLst>
              <a:gd name="adj" fmla="val 6250"/>
            </a:avLst>
          </a:prstGeom>
          <a:solidFill>
            <a:srgbClr val="F0F1F2"/>
          </a:solidFill>
          <a:ln w="12700">
            <a:solidFill>
              <a:srgbClr val="F0F1F2"/>
            </a:solidFill>
            <a:prstDash val="solid"/>
          </a:ln>
        </p:spPr>
      </p:sp>
      <p:sp>
        <p:nvSpPr>
          <p:cNvPr id="28" name="Shape 26"/>
          <p:cNvSpPr/>
          <p:nvPr/>
        </p:nvSpPr>
        <p:spPr>
          <a:xfrm>
            <a:off x="8378952" y="4306824"/>
            <a:ext cx="310896" cy="310896"/>
          </a:xfrm>
          <a:prstGeom prst="ellipse">
            <a:avLst/>
          </a:prstGeom>
          <a:solidFill>
            <a:srgbClr val="C9A227"/>
          </a:solidFill>
          <a:ln w="12700">
            <a:solidFill>
              <a:srgbClr val="C9A227"/>
            </a:solidFill>
            <a:prstDash val="solid"/>
          </a:ln>
        </p:spPr>
      </p:sp>
      <p:sp>
        <p:nvSpPr>
          <p:cNvPr id="29" name="Text 27"/>
          <p:cNvSpPr/>
          <p:nvPr/>
        </p:nvSpPr>
        <p:spPr>
          <a:xfrm>
            <a:off x="8808720" y="428853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Ready for the demo</a:t>
            </a:r>
            <a:endParaRPr lang="en-US" sz="1450" dirty="0"/>
          </a:p>
        </p:txBody>
      </p:sp>
      <p:sp>
        <p:nvSpPr>
          <p:cNvPr id="30" name="Text 28"/>
          <p:cNvSpPr/>
          <p:nvPr/>
        </p:nvSpPr>
        <p:spPr>
          <a:xfrm>
            <a:off x="8378952" y="4727448"/>
            <a:ext cx="2932176" cy="5943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Simulator numbers play an honest act and a takeover attempt with no real SIM cards.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WHY THIS IS DIFFERENT</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Identity checks today are a door. This is a dial</a:t>
            </a:r>
            <a:endParaRPr lang="en-US" sz="3600" dirty="0"/>
          </a:p>
        </p:txBody>
      </p:sp>
      <p:sp>
        <p:nvSpPr>
          <p:cNvPr id="4" name="Shape 2"/>
          <p:cNvSpPr/>
          <p:nvPr/>
        </p:nvSpPr>
        <p:spPr>
          <a:xfrm>
            <a:off x="594360" y="1783080"/>
            <a:ext cx="5303520" cy="3566160"/>
          </a:xfrm>
          <a:prstGeom prst="roundRect">
            <a:avLst>
              <a:gd name="adj" fmla="val 3077"/>
            </a:avLst>
          </a:prstGeom>
          <a:solidFill>
            <a:srgbClr val="F3F4F5"/>
          </a:solidFill>
          <a:ln w="12700">
            <a:solidFill>
              <a:srgbClr val="F3F4F5"/>
            </a:solidFill>
            <a:prstDash val="solid"/>
          </a:ln>
        </p:spPr>
      </p:sp>
      <p:sp>
        <p:nvSpPr>
          <p:cNvPr id="5" name="Text 3"/>
          <p:cNvSpPr/>
          <p:nvPr/>
        </p:nvSpPr>
        <p:spPr>
          <a:xfrm>
            <a:off x="914400" y="2011680"/>
            <a:ext cx="4663440" cy="365760"/>
          </a:xfrm>
          <a:prstGeom prst="rect">
            <a:avLst/>
          </a:prstGeom>
          <a:noFill/>
          <a:ln/>
        </p:spPr>
        <p:txBody>
          <a:bodyPr wrap="square" lIns="0" tIns="0" rIns="0" bIns="0" rtlCol="0" anchor="ctr"/>
          <a:lstStyle/>
          <a:p>
            <a:pPr indent="0" marL="0">
              <a:buNone/>
            </a:pPr>
            <a:r>
              <a:rPr lang="en-US" sz="1700" b="1" dirty="0">
                <a:solidFill>
                  <a:srgbClr val="6E767E"/>
                </a:solidFill>
                <a:latin typeface="Calibri" pitchFamily="34" charset="0"/>
                <a:ea typeface="Calibri" pitchFamily="34" charset="-122"/>
                <a:cs typeface="Calibri" pitchFamily="34" charset="-120"/>
              </a:rPr>
              <a:t>Remote identity today</a:t>
            </a:r>
            <a:endParaRPr lang="en-US" sz="1700" dirty="0"/>
          </a:p>
        </p:txBody>
      </p:sp>
      <p:sp>
        <p:nvSpPr>
          <p:cNvPr id="6" name="Shape 4"/>
          <p:cNvSpPr/>
          <p:nvPr/>
        </p:nvSpPr>
        <p:spPr>
          <a:xfrm>
            <a:off x="914400" y="2587752"/>
            <a:ext cx="201168" cy="201168"/>
          </a:xfrm>
          <a:prstGeom prst="ellipse">
            <a:avLst/>
          </a:prstGeom>
          <a:solidFill>
            <a:srgbClr val="C9A227"/>
          </a:solidFill>
          <a:ln w="12700">
            <a:solidFill>
              <a:srgbClr val="C9A227"/>
            </a:solidFill>
            <a:prstDash val="solid"/>
          </a:ln>
        </p:spPr>
      </p:sp>
      <p:sp>
        <p:nvSpPr>
          <p:cNvPr id="7" name="Text 5"/>
          <p:cNvSpPr/>
          <p:nvPr/>
        </p:nvSpPr>
        <p:spPr>
          <a:xfrm>
            <a:off x="1298448" y="2514600"/>
            <a:ext cx="4279392" cy="667512"/>
          </a:xfrm>
          <a:prstGeom prst="rect">
            <a:avLst/>
          </a:prstGeom>
          <a:noFill/>
          <a:ln/>
        </p:spPr>
        <p:txBody>
          <a:bodyPr wrap="square" lIns="0" tIns="0" rIns="0" bIns="0" rtlCol="0" anchor="t"/>
          <a:lstStyle/>
          <a:p>
            <a:pPr indent="0" marL="0">
              <a:lnSpc>
                <a:spcPct val="118000"/>
              </a:lnSpc>
              <a:buNone/>
            </a:pPr>
            <a:r>
              <a:rPr lang="en-US" sz="1350" dirty="0">
                <a:solidFill>
                  <a:srgbClr val="3C434A"/>
                </a:solidFill>
                <a:latin typeface="Calibri" pitchFamily="34" charset="0"/>
                <a:ea typeface="Calibri" pitchFamily="34" charset="-122"/>
                <a:cs typeface="Calibri" pitchFamily="34" charset="-120"/>
              </a:rPr>
              <a:t>An SMS code, which is the very thing criminals collect.</a:t>
            </a:r>
            <a:endParaRPr lang="en-US" sz="1350" dirty="0"/>
          </a:p>
        </p:txBody>
      </p:sp>
      <p:sp>
        <p:nvSpPr>
          <p:cNvPr id="8" name="Shape 6"/>
          <p:cNvSpPr/>
          <p:nvPr/>
        </p:nvSpPr>
        <p:spPr>
          <a:xfrm>
            <a:off x="914400" y="3300984"/>
            <a:ext cx="201168" cy="201168"/>
          </a:xfrm>
          <a:prstGeom prst="ellipse">
            <a:avLst/>
          </a:prstGeom>
          <a:solidFill>
            <a:srgbClr val="C9A227"/>
          </a:solidFill>
          <a:ln w="12700">
            <a:solidFill>
              <a:srgbClr val="C9A227"/>
            </a:solidFill>
            <a:prstDash val="solid"/>
          </a:ln>
        </p:spPr>
      </p:sp>
      <p:sp>
        <p:nvSpPr>
          <p:cNvPr id="9" name="Text 7"/>
          <p:cNvSpPr/>
          <p:nvPr/>
        </p:nvSpPr>
        <p:spPr>
          <a:xfrm>
            <a:off x="1298448" y="3227832"/>
            <a:ext cx="4279392" cy="667512"/>
          </a:xfrm>
          <a:prstGeom prst="rect">
            <a:avLst/>
          </a:prstGeom>
          <a:noFill/>
          <a:ln/>
        </p:spPr>
        <p:txBody>
          <a:bodyPr wrap="square" lIns="0" tIns="0" rIns="0" bIns="0" rtlCol="0" anchor="t"/>
          <a:lstStyle/>
          <a:p>
            <a:pPr indent="0" marL="0">
              <a:lnSpc>
                <a:spcPct val="118000"/>
              </a:lnSpc>
              <a:buNone/>
            </a:pPr>
            <a:r>
              <a:rPr lang="en-US" sz="1350" dirty="0">
                <a:solidFill>
                  <a:srgbClr val="3C434A"/>
                </a:solidFill>
                <a:latin typeface="Calibri" pitchFamily="34" charset="0"/>
                <a:ea typeface="Calibri" pitchFamily="34" charset="-122"/>
                <a:cs typeface="Calibri" pitchFamily="34" charset="-120"/>
              </a:rPr>
              <a:t>Or a video call, which a good copy of a face can pass.</a:t>
            </a:r>
            <a:endParaRPr lang="en-US" sz="1350" dirty="0"/>
          </a:p>
        </p:txBody>
      </p:sp>
      <p:sp>
        <p:nvSpPr>
          <p:cNvPr id="10" name="Shape 8"/>
          <p:cNvSpPr/>
          <p:nvPr/>
        </p:nvSpPr>
        <p:spPr>
          <a:xfrm>
            <a:off x="914400" y="4014216"/>
            <a:ext cx="201168" cy="201168"/>
          </a:xfrm>
          <a:prstGeom prst="ellipse">
            <a:avLst/>
          </a:prstGeom>
          <a:solidFill>
            <a:srgbClr val="C9A227"/>
          </a:solidFill>
          <a:ln w="12700">
            <a:solidFill>
              <a:srgbClr val="C9A227"/>
            </a:solidFill>
            <a:prstDash val="solid"/>
          </a:ln>
        </p:spPr>
      </p:sp>
      <p:sp>
        <p:nvSpPr>
          <p:cNvPr id="11" name="Text 9"/>
          <p:cNvSpPr/>
          <p:nvPr/>
        </p:nvSpPr>
        <p:spPr>
          <a:xfrm>
            <a:off x="1298448" y="3941064"/>
            <a:ext cx="4279392" cy="667512"/>
          </a:xfrm>
          <a:prstGeom prst="rect">
            <a:avLst/>
          </a:prstGeom>
          <a:noFill/>
          <a:ln/>
        </p:spPr>
        <p:txBody>
          <a:bodyPr wrap="square" lIns="0" tIns="0" rIns="0" bIns="0" rtlCol="0" anchor="t"/>
          <a:lstStyle/>
          <a:p>
            <a:pPr indent="0" marL="0">
              <a:lnSpc>
                <a:spcPct val="118000"/>
              </a:lnSpc>
              <a:buNone/>
            </a:pPr>
            <a:r>
              <a:rPr lang="en-US" sz="1350" dirty="0">
                <a:solidFill>
                  <a:srgbClr val="3C434A"/>
                </a:solidFill>
                <a:latin typeface="Calibri" pitchFamily="34" charset="0"/>
                <a:ea typeface="Calibri" pitchFamily="34" charset="-122"/>
                <a:cs typeface="Calibri" pitchFamily="34" charset="-120"/>
              </a:rPr>
              <a:t>Or a flight, for an act that takes four minutes to sign.</a:t>
            </a:r>
            <a:endParaRPr lang="en-US" sz="1350" dirty="0"/>
          </a:p>
        </p:txBody>
      </p:sp>
      <p:sp>
        <p:nvSpPr>
          <p:cNvPr id="12" name="Shape 10"/>
          <p:cNvSpPr/>
          <p:nvPr/>
        </p:nvSpPr>
        <p:spPr>
          <a:xfrm>
            <a:off x="914400" y="4727448"/>
            <a:ext cx="201168" cy="201168"/>
          </a:xfrm>
          <a:prstGeom prst="ellipse">
            <a:avLst/>
          </a:prstGeom>
          <a:solidFill>
            <a:srgbClr val="C9A227"/>
          </a:solidFill>
          <a:ln w="12700">
            <a:solidFill>
              <a:srgbClr val="C9A227"/>
            </a:solidFill>
            <a:prstDash val="solid"/>
          </a:ln>
        </p:spPr>
      </p:sp>
      <p:sp>
        <p:nvSpPr>
          <p:cNvPr id="13" name="Text 11"/>
          <p:cNvSpPr/>
          <p:nvPr/>
        </p:nvSpPr>
        <p:spPr>
          <a:xfrm>
            <a:off x="1298448" y="4654296"/>
            <a:ext cx="4279392" cy="667512"/>
          </a:xfrm>
          <a:prstGeom prst="rect">
            <a:avLst/>
          </a:prstGeom>
          <a:noFill/>
          <a:ln/>
        </p:spPr>
        <p:txBody>
          <a:bodyPr wrap="square" lIns="0" tIns="0" rIns="0" bIns="0" rtlCol="0" anchor="t"/>
          <a:lstStyle/>
          <a:p>
            <a:pPr indent="0" marL="0">
              <a:lnSpc>
                <a:spcPct val="118000"/>
              </a:lnSpc>
              <a:buNone/>
            </a:pPr>
            <a:r>
              <a:rPr lang="en-US" sz="1350" dirty="0">
                <a:solidFill>
                  <a:srgbClr val="3C434A"/>
                </a:solidFill>
                <a:latin typeface="Calibri" pitchFamily="34" charset="0"/>
                <a:ea typeface="Calibri" pitchFamily="34" charset="-122"/>
                <a:cs typeface="Calibri" pitchFamily="34" charset="-120"/>
              </a:rPr>
              <a:t>The same weight for a certificate and for a house.</a:t>
            </a:r>
            <a:endParaRPr lang="en-US" sz="1350" dirty="0"/>
          </a:p>
        </p:txBody>
      </p:sp>
      <p:sp>
        <p:nvSpPr>
          <p:cNvPr id="14" name="Shape 12"/>
          <p:cNvSpPr/>
          <p:nvPr/>
        </p:nvSpPr>
        <p:spPr>
          <a:xfrm>
            <a:off x="6263640" y="1783080"/>
            <a:ext cx="5303520" cy="3566160"/>
          </a:xfrm>
          <a:prstGeom prst="roundRect">
            <a:avLst>
              <a:gd name="adj" fmla="val 3077"/>
            </a:avLst>
          </a:prstGeom>
          <a:solidFill>
            <a:srgbClr val="23282D"/>
          </a:solidFill>
          <a:ln w="12700">
            <a:solidFill>
              <a:srgbClr val="23282D"/>
            </a:solidFill>
            <a:prstDash val="solid"/>
          </a:ln>
        </p:spPr>
      </p:sp>
      <p:sp>
        <p:nvSpPr>
          <p:cNvPr id="15" name="Text 13"/>
          <p:cNvSpPr/>
          <p:nvPr/>
        </p:nvSpPr>
        <p:spPr>
          <a:xfrm>
            <a:off x="6583680" y="2011680"/>
            <a:ext cx="4663440" cy="365760"/>
          </a:xfrm>
          <a:prstGeom prst="rect">
            <a:avLst/>
          </a:prstGeom>
          <a:noFill/>
          <a:ln/>
        </p:spPr>
        <p:txBody>
          <a:bodyPr wrap="square" lIns="0" tIns="0" rIns="0" bIns="0" rtlCol="0" anchor="ctr"/>
          <a:lstStyle/>
          <a:p>
            <a:pPr indent="0" marL="0">
              <a:buNone/>
            </a:pPr>
            <a:r>
              <a:rPr lang="en-US" sz="1700" b="1" dirty="0">
                <a:solidFill>
                  <a:srgbClr val="C9A227"/>
                </a:solidFill>
                <a:latin typeface="Calibri" pitchFamily="34" charset="0"/>
                <a:ea typeface="Calibri" pitchFamily="34" charset="-122"/>
                <a:cs typeface="Calibri" pitchFamily="34" charset="-120"/>
              </a:rPr>
              <a:t>Remote identity with Wakala</a:t>
            </a:r>
            <a:endParaRPr lang="en-US" sz="1700" dirty="0"/>
          </a:p>
        </p:txBody>
      </p:sp>
      <p:sp>
        <p:nvSpPr>
          <p:cNvPr id="16" name="Shape 14"/>
          <p:cNvSpPr/>
          <p:nvPr/>
        </p:nvSpPr>
        <p:spPr>
          <a:xfrm>
            <a:off x="6583680" y="2587752"/>
            <a:ext cx="182880" cy="182880"/>
          </a:xfrm>
          <a:prstGeom prst="ellipse">
            <a:avLst/>
          </a:prstGeom>
          <a:solidFill>
            <a:srgbClr val="C9A227"/>
          </a:solidFill>
          <a:ln w="12700">
            <a:solidFill>
              <a:srgbClr val="C9A227"/>
            </a:solidFill>
            <a:prstDash val="solid"/>
          </a:ln>
        </p:spPr>
      </p:sp>
      <p:sp>
        <p:nvSpPr>
          <p:cNvPr id="17" name="Text 15"/>
          <p:cNvSpPr/>
          <p:nvPr/>
        </p:nvSpPr>
        <p:spPr>
          <a:xfrm>
            <a:off x="6931152" y="2514600"/>
            <a:ext cx="4389120" cy="65836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The proof sits in the network, so there is nothing to send.</a:t>
            </a:r>
            <a:endParaRPr lang="en-US" sz="1350" dirty="0"/>
          </a:p>
        </p:txBody>
      </p:sp>
      <p:sp>
        <p:nvSpPr>
          <p:cNvPr id="18" name="Shape 16"/>
          <p:cNvSpPr/>
          <p:nvPr/>
        </p:nvSpPr>
        <p:spPr>
          <a:xfrm>
            <a:off x="6583680" y="3300984"/>
            <a:ext cx="182880" cy="182880"/>
          </a:xfrm>
          <a:prstGeom prst="ellipse">
            <a:avLst/>
          </a:prstGeom>
          <a:solidFill>
            <a:srgbClr val="C9A227"/>
          </a:solidFill>
          <a:ln w="12700">
            <a:solidFill>
              <a:srgbClr val="C9A227"/>
            </a:solidFill>
            <a:prstDash val="solid"/>
          </a:ln>
        </p:spPr>
      </p:sp>
      <p:sp>
        <p:nvSpPr>
          <p:cNvPr id="19" name="Text 17"/>
          <p:cNvSpPr/>
          <p:nvPr/>
        </p:nvSpPr>
        <p:spPr>
          <a:xfrm>
            <a:off x="6931152" y="3227832"/>
            <a:ext cx="4389120" cy="65836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The country is confirmed, which a video call cannot do.</a:t>
            </a:r>
            <a:endParaRPr lang="en-US" sz="1350" dirty="0"/>
          </a:p>
        </p:txBody>
      </p:sp>
      <p:sp>
        <p:nvSpPr>
          <p:cNvPr id="20" name="Shape 18"/>
          <p:cNvSpPr/>
          <p:nvPr/>
        </p:nvSpPr>
        <p:spPr>
          <a:xfrm>
            <a:off x="6583680" y="4014216"/>
            <a:ext cx="182880" cy="182880"/>
          </a:xfrm>
          <a:prstGeom prst="ellipse">
            <a:avLst/>
          </a:prstGeom>
          <a:solidFill>
            <a:srgbClr val="C9A227"/>
          </a:solidFill>
          <a:ln w="12700">
            <a:solidFill>
              <a:srgbClr val="C9A227"/>
            </a:solidFill>
            <a:prstDash val="solid"/>
          </a:ln>
        </p:spPr>
      </p:sp>
      <p:sp>
        <p:nvSpPr>
          <p:cNvPr id="21" name="Text 19"/>
          <p:cNvSpPr/>
          <p:nvPr/>
        </p:nvSpPr>
        <p:spPr>
          <a:xfrm>
            <a:off x="6931152" y="3941064"/>
            <a:ext cx="4389120" cy="65836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Small acts clear in seconds and large ones get more.</a:t>
            </a:r>
            <a:endParaRPr lang="en-US" sz="1350" dirty="0"/>
          </a:p>
        </p:txBody>
      </p:sp>
      <p:sp>
        <p:nvSpPr>
          <p:cNvPr id="22" name="Shape 20"/>
          <p:cNvSpPr/>
          <p:nvPr/>
        </p:nvSpPr>
        <p:spPr>
          <a:xfrm>
            <a:off x="6583680" y="4727448"/>
            <a:ext cx="182880" cy="182880"/>
          </a:xfrm>
          <a:prstGeom prst="ellipse">
            <a:avLst/>
          </a:prstGeom>
          <a:solidFill>
            <a:srgbClr val="C9A227"/>
          </a:solidFill>
          <a:ln w="12700">
            <a:solidFill>
              <a:srgbClr val="C9A227"/>
            </a:solidFill>
            <a:prstDash val="solid"/>
          </a:ln>
        </p:spPr>
      </p:sp>
      <p:sp>
        <p:nvSpPr>
          <p:cNvPr id="23" name="Text 21"/>
          <p:cNvSpPr/>
          <p:nvPr/>
        </p:nvSpPr>
        <p:spPr>
          <a:xfrm>
            <a:off x="6931152" y="4654296"/>
            <a:ext cx="4389120" cy="65836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The notary keeps the decision and gains the evidence.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IMPACT</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Weeks of waiting turned into one working day</a:t>
            </a:r>
            <a:endParaRPr lang="en-US" sz="3600" dirty="0"/>
          </a:p>
        </p:txBody>
      </p:sp>
      <p:graphicFrame>
        <p:nvGraphicFramePr>
          <p:cNvPr id="4" name="Chart 0" descr=""/>
          <p:cNvGraphicFramePr/>
          <p:nvPr/>
        </p:nvGraphicFramePr>
        <p:xfrm>
          <a:off x="594360" y="178308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783080"/>
            <a:ext cx="4617720" cy="1188720"/>
          </a:xfrm>
          <a:prstGeom prst="roundRect">
            <a:avLst>
              <a:gd name="adj" fmla="val 7692"/>
            </a:avLst>
          </a:prstGeom>
          <a:solidFill>
            <a:srgbClr val="F0F1F2"/>
          </a:solidFill>
          <a:ln w="12700">
            <a:solidFill>
              <a:srgbClr val="F0F1F2"/>
            </a:solidFill>
            <a:prstDash val="solid"/>
          </a:ln>
        </p:spPr>
      </p:sp>
      <p:sp>
        <p:nvSpPr>
          <p:cNvPr id="6" name="Shape 3"/>
          <p:cNvSpPr/>
          <p:nvPr/>
        </p:nvSpPr>
        <p:spPr>
          <a:xfrm>
            <a:off x="7205472" y="2020824"/>
            <a:ext cx="310896" cy="310896"/>
          </a:xfrm>
          <a:prstGeom prst="ellipse">
            <a:avLst/>
          </a:prstGeom>
          <a:solidFill>
            <a:srgbClr val="C9A227"/>
          </a:solidFill>
          <a:ln w="12700">
            <a:solidFill>
              <a:srgbClr val="C9A227"/>
            </a:solidFill>
            <a:prstDash val="solid"/>
          </a:ln>
        </p:spPr>
      </p:sp>
      <p:sp>
        <p:nvSpPr>
          <p:cNvPr id="7" name="Text 4"/>
          <p:cNvSpPr/>
          <p:nvPr/>
        </p:nvSpPr>
        <p:spPr>
          <a:xfrm>
            <a:off x="7635240" y="2002536"/>
            <a:ext cx="370332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For citizens</a:t>
            </a:r>
            <a:endParaRPr lang="en-US" sz="1450" dirty="0"/>
          </a:p>
        </p:txBody>
      </p:sp>
      <p:sp>
        <p:nvSpPr>
          <p:cNvPr id="8" name="Text 5"/>
          <p:cNvSpPr/>
          <p:nvPr/>
        </p:nvSpPr>
        <p:spPr>
          <a:xfrm>
            <a:off x="7205472" y="2441448"/>
            <a:ext cx="4105656" cy="32004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A day of pay kept, a flight not bought and a family matter closed without a fight.</a:t>
            </a:r>
            <a:endParaRPr lang="en-US" sz="1250" dirty="0"/>
          </a:p>
        </p:txBody>
      </p:sp>
      <p:sp>
        <p:nvSpPr>
          <p:cNvPr id="9" name="Shape 6"/>
          <p:cNvSpPr/>
          <p:nvPr/>
        </p:nvSpPr>
        <p:spPr>
          <a:xfrm>
            <a:off x="6949440" y="3154680"/>
            <a:ext cx="4617720" cy="1188720"/>
          </a:xfrm>
          <a:prstGeom prst="roundRect">
            <a:avLst>
              <a:gd name="adj" fmla="val 7692"/>
            </a:avLst>
          </a:prstGeom>
          <a:solidFill>
            <a:srgbClr val="F0F1F2"/>
          </a:solidFill>
          <a:ln w="12700">
            <a:solidFill>
              <a:srgbClr val="F0F1F2"/>
            </a:solidFill>
            <a:prstDash val="solid"/>
          </a:ln>
        </p:spPr>
      </p:sp>
      <p:sp>
        <p:nvSpPr>
          <p:cNvPr id="10" name="Shape 7"/>
          <p:cNvSpPr/>
          <p:nvPr/>
        </p:nvSpPr>
        <p:spPr>
          <a:xfrm>
            <a:off x="7205472" y="3392424"/>
            <a:ext cx="310896" cy="310896"/>
          </a:xfrm>
          <a:prstGeom prst="ellipse">
            <a:avLst/>
          </a:prstGeom>
          <a:solidFill>
            <a:srgbClr val="C9A227"/>
          </a:solidFill>
          <a:ln w="12700">
            <a:solidFill>
              <a:srgbClr val="C9A227"/>
            </a:solidFill>
            <a:prstDash val="solid"/>
          </a:ln>
        </p:spPr>
      </p:sp>
      <p:sp>
        <p:nvSpPr>
          <p:cNvPr id="11" name="Text 8"/>
          <p:cNvSpPr/>
          <p:nvPr/>
        </p:nvSpPr>
        <p:spPr>
          <a:xfrm>
            <a:off x="7635240" y="3374136"/>
            <a:ext cx="370332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For the state</a:t>
            </a:r>
            <a:endParaRPr lang="en-US" sz="1450" dirty="0"/>
          </a:p>
        </p:txBody>
      </p:sp>
      <p:sp>
        <p:nvSpPr>
          <p:cNvPr id="12" name="Text 9"/>
          <p:cNvSpPr/>
          <p:nvPr/>
        </p:nvSpPr>
        <p:spPr>
          <a:xfrm>
            <a:off x="7205472" y="3813048"/>
            <a:ext cx="4105656" cy="32004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Shorter consulate queues, fewer forged acts and a record that stands up in court.</a:t>
            </a:r>
            <a:endParaRPr lang="en-US" sz="1250" dirty="0"/>
          </a:p>
        </p:txBody>
      </p:sp>
      <p:sp>
        <p:nvSpPr>
          <p:cNvPr id="13" name="Shape 10"/>
          <p:cNvSpPr/>
          <p:nvPr/>
        </p:nvSpPr>
        <p:spPr>
          <a:xfrm>
            <a:off x="6949440" y="4526280"/>
            <a:ext cx="4617720" cy="1188720"/>
          </a:xfrm>
          <a:prstGeom prst="roundRect">
            <a:avLst>
              <a:gd name="adj" fmla="val 7692"/>
            </a:avLst>
          </a:prstGeom>
          <a:solidFill>
            <a:srgbClr val="F0F1F2"/>
          </a:solidFill>
          <a:ln w="12700">
            <a:solidFill>
              <a:srgbClr val="F0F1F2"/>
            </a:solidFill>
            <a:prstDash val="solid"/>
          </a:ln>
        </p:spPr>
      </p:sp>
      <p:sp>
        <p:nvSpPr>
          <p:cNvPr id="14" name="Shape 11"/>
          <p:cNvSpPr/>
          <p:nvPr/>
        </p:nvSpPr>
        <p:spPr>
          <a:xfrm>
            <a:off x="7205472" y="4764024"/>
            <a:ext cx="310896" cy="310896"/>
          </a:xfrm>
          <a:prstGeom prst="ellipse">
            <a:avLst/>
          </a:prstGeom>
          <a:solidFill>
            <a:srgbClr val="C9A227"/>
          </a:solidFill>
          <a:ln w="12700">
            <a:solidFill>
              <a:srgbClr val="C9A227"/>
            </a:solidFill>
            <a:prstDash val="solid"/>
          </a:ln>
        </p:spPr>
      </p:sp>
      <p:sp>
        <p:nvSpPr>
          <p:cNvPr id="15" name="Text 12"/>
          <p:cNvSpPr/>
          <p:nvPr/>
        </p:nvSpPr>
        <p:spPr>
          <a:xfrm>
            <a:off x="7635240" y="4745736"/>
            <a:ext cx="370332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For the region</a:t>
            </a:r>
            <a:endParaRPr lang="en-US" sz="1450" dirty="0"/>
          </a:p>
        </p:txBody>
      </p:sp>
      <p:sp>
        <p:nvSpPr>
          <p:cNvPr id="16" name="Text 13"/>
          <p:cNvSpPr/>
          <p:nvPr/>
        </p:nvSpPr>
        <p:spPr>
          <a:xfrm>
            <a:off x="7205472" y="5184648"/>
            <a:ext cx="4105656" cy="32004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The same agent fits banks, insurers, land registries and company registrars.</a:t>
            </a:r>
            <a:endParaRPr lang="en-US" sz="1250" dirty="0"/>
          </a:p>
        </p:txBody>
      </p:sp>
      <p:sp>
        <p:nvSpPr>
          <p:cNvPr id="17" name="Text 14"/>
          <p:cNvSpPr/>
          <p:nvPr/>
        </p:nvSpPr>
        <p:spPr>
          <a:xfrm>
            <a:off x="594360" y="5212080"/>
            <a:ext cx="10972800" cy="320040"/>
          </a:xfrm>
          <a:prstGeom prst="rect">
            <a:avLst/>
          </a:prstGeom>
          <a:noFill/>
          <a:ln/>
        </p:spPr>
        <p:txBody>
          <a:bodyPr wrap="square" lIns="0" tIns="0" rIns="0" bIns="0" rtlCol="0" anchor="ctr"/>
          <a:lstStyle/>
          <a:p>
            <a:pPr indent="0" marL="0">
              <a:buNone/>
            </a:pPr>
            <a:r>
              <a:rPr lang="en-US" sz="1100" i="1" dirty="0">
                <a:solidFill>
                  <a:srgbClr val="6E767E"/>
                </a:solidFill>
                <a:latin typeface="Calibri" pitchFamily="34" charset="0"/>
                <a:ea typeface="Calibri" pitchFamily="34" charset="-122"/>
                <a:cs typeface="Calibri" pitchFamily="34" charset="-120"/>
              </a:rPr>
              <a:t>This is our own model, not measured data. We show the assumptions behind it in the demo.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WHAT COULD GO WRONG</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The four hard questions, answered</a:t>
            </a:r>
            <a:endParaRPr lang="en-US" sz="3600" dirty="0"/>
          </a:p>
        </p:txBody>
      </p:sp>
      <p:sp>
        <p:nvSpPr>
          <p:cNvPr id="4" name="Shape 2"/>
          <p:cNvSpPr/>
          <p:nvPr/>
        </p:nvSpPr>
        <p:spPr>
          <a:xfrm>
            <a:off x="594360" y="1874520"/>
            <a:ext cx="5326380" cy="1417320"/>
          </a:xfrm>
          <a:prstGeom prst="roundRect">
            <a:avLst>
              <a:gd name="adj" fmla="val 6452"/>
            </a:avLst>
          </a:prstGeom>
          <a:solidFill>
            <a:srgbClr val="F0F1F2"/>
          </a:solidFill>
          <a:ln w="12700">
            <a:solidFill>
              <a:srgbClr val="F0F1F2"/>
            </a:solidFill>
            <a:prstDash val="solid"/>
          </a:ln>
        </p:spPr>
      </p:sp>
      <p:sp>
        <p:nvSpPr>
          <p:cNvPr id="5" name="Text 3"/>
          <p:cNvSpPr/>
          <p:nvPr/>
        </p:nvSpPr>
        <p:spPr>
          <a:xfrm>
            <a:off x="850392" y="2057400"/>
            <a:ext cx="4814316" cy="292608"/>
          </a:xfrm>
          <a:prstGeom prst="rect">
            <a:avLst/>
          </a:prstGeom>
          <a:noFill/>
          <a:ln/>
        </p:spPr>
        <p:txBody>
          <a:bodyPr wrap="square" lIns="0" tIns="0" rIns="0" bIns="0" rtlCol="0" anchor="ctr"/>
          <a:lstStyle/>
          <a:p>
            <a:pPr indent="0" marL="0">
              <a:buNone/>
            </a:pPr>
            <a:r>
              <a:rPr lang="en-US" sz="1400" b="1" dirty="0">
                <a:solidFill>
                  <a:srgbClr val="23282D"/>
                </a:solidFill>
                <a:latin typeface="Calibri" pitchFamily="34" charset="0"/>
                <a:ea typeface="Calibri" pitchFamily="34" charset="-122"/>
                <a:cs typeface="Calibri" pitchFamily="34" charset="-120"/>
              </a:rPr>
              <a:t>Number Verification on roaming</a:t>
            </a:r>
            <a:endParaRPr lang="en-US" sz="1400" dirty="0"/>
          </a:p>
        </p:txBody>
      </p:sp>
      <p:sp>
        <p:nvSpPr>
          <p:cNvPr id="6" name="Text 4"/>
          <p:cNvSpPr/>
          <p:nvPr/>
        </p:nvSpPr>
        <p:spPr>
          <a:xfrm>
            <a:off x="850392" y="2377440"/>
            <a:ext cx="4814316" cy="73152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It is weakest exactly where our user is. So the citizen binds a local line in the host country at first sign up, and the agent verifies that line and never rests on one signal.</a:t>
            </a:r>
            <a:endParaRPr lang="en-US" sz="1250" dirty="0"/>
          </a:p>
        </p:txBody>
      </p:sp>
      <p:sp>
        <p:nvSpPr>
          <p:cNvPr id="7" name="Shape 5"/>
          <p:cNvSpPr/>
          <p:nvPr/>
        </p:nvSpPr>
        <p:spPr>
          <a:xfrm>
            <a:off x="6240780" y="1874520"/>
            <a:ext cx="5326380" cy="1417320"/>
          </a:xfrm>
          <a:prstGeom prst="roundRect">
            <a:avLst>
              <a:gd name="adj" fmla="val 6452"/>
            </a:avLst>
          </a:prstGeom>
          <a:solidFill>
            <a:srgbClr val="F0F1F2"/>
          </a:solidFill>
          <a:ln w="12700">
            <a:solidFill>
              <a:srgbClr val="F0F1F2"/>
            </a:solidFill>
            <a:prstDash val="solid"/>
          </a:ln>
        </p:spPr>
      </p:sp>
      <p:sp>
        <p:nvSpPr>
          <p:cNvPr id="8" name="Text 6"/>
          <p:cNvSpPr/>
          <p:nvPr/>
        </p:nvSpPr>
        <p:spPr>
          <a:xfrm>
            <a:off x="6496812" y="2057400"/>
            <a:ext cx="4814316" cy="292608"/>
          </a:xfrm>
          <a:prstGeom prst="rect">
            <a:avLst/>
          </a:prstGeom>
          <a:noFill/>
          <a:ln/>
        </p:spPr>
        <p:txBody>
          <a:bodyPr wrap="square" lIns="0" tIns="0" rIns="0" bIns="0" rtlCol="0" anchor="ctr"/>
          <a:lstStyle/>
          <a:p>
            <a:pPr indent="0" marL="0">
              <a:buNone/>
            </a:pPr>
            <a:r>
              <a:rPr lang="en-US" sz="1400" b="1" dirty="0">
                <a:solidFill>
                  <a:srgbClr val="23282D"/>
                </a:solidFill>
                <a:latin typeface="Calibri" pitchFamily="34" charset="0"/>
                <a:ea typeface="Calibri" pitchFamily="34" charset="-122"/>
                <a:cs typeface="Calibri" pitchFamily="34" charset="-120"/>
              </a:rPr>
              <a:t>A stolen phone</a:t>
            </a:r>
            <a:endParaRPr lang="en-US" sz="1400" dirty="0"/>
          </a:p>
        </p:txBody>
      </p:sp>
      <p:sp>
        <p:nvSpPr>
          <p:cNvPr id="9" name="Text 7"/>
          <p:cNvSpPr/>
          <p:nvPr/>
        </p:nvSpPr>
        <p:spPr>
          <a:xfrm>
            <a:off x="6496812" y="2377440"/>
            <a:ext cx="4814316" cy="73152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Holding a phone is not being a person. On heavy acts we always add one more factor. We cut how often that factor is needed, we never remove it.</a:t>
            </a:r>
            <a:endParaRPr lang="en-US" sz="1250" dirty="0"/>
          </a:p>
        </p:txBody>
      </p:sp>
      <p:sp>
        <p:nvSpPr>
          <p:cNvPr id="10" name="Shape 8"/>
          <p:cNvSpPr/>
          <p:nvPr/>
        </p:nvSpPr>
        <p:spPr>
          <a:xfrm>
            <a:off x="594360" y="3547872"/>
            <a:ext cx="5326380" cy="1417320"/>
          </a:xfrm>
          <a:prstGeom prst="roundRect">
            <a:avLst>
              <a:gd name="adj" fmla="val 6452"/>
            </a:avLst>
          </a:prstGeom>
          <a:solidFill>
            <a:srgbClr val="F0F1F2"/>
          </a:solidFill>
          <a:ln w="12700">
            <a:solidFill>
              <a:srgbClr val="F0F1F2"/>
            </a:solidFill>
            <a:prstDash val="solid"/>
          </a:ln>
        </p:spPr>
      </p:sp>
      <p:sp>
        <p:nvSpPr>
          <p:cNvPr id="11" name="Text 9"/>
          <p:cNvSpPr/>
          <p:nvPr/>
        </p:nvSpPr>
        <p:spPr>
          <a:xfrm>
            <a:off x="850392" y="3730752"/>
            <a:ext cx="4814316" cy="292608"/>
          </a:xfrm>
          <a:prstGeom prst="rect">
            <a:avLst/>
          </a:prstGeom>
          <a:noFill/>
          <a:ln/>
        </p:spPr>
        <p:txBody>
          <a:bodyPr wrap="square" lIns="0" tIns="0" rIns="0" bIns="0" rtlCol="0" anchor="ctr"/>
          <a:lstStyle/>
          <a:p>
            <a:pPr indent="0" marL="0">
              <a:buNone/>
            </a:pPr>
            <a:r>
              <a:rPr lang="en-US" sz="1400" b="1" dirty="0">
                <a:solidFill>
                  <a:srgbClr val="23282D"/>
                </a:solidFill>
                <a:latin typeface="Calibri" pitchFamily="34" charset="0"/>
                <a:ea typeface="Calibri" pitchFamily="34" charset="-122"/>
                <a:cs typeface="Calibri" pitchFamily="34" charset="-120"/>
              </a:rPr>
              <a:t>Will the law accept it</a:t>
            </a:r>
            <a:endParaRPr lang="en-US" sz="1400" dirty="0"/>
          </a:p>
        </p:txBody>
      </p:sp>
      <p:sp>
        <p:nvSpPr>
          <p:cNvPr id="12" name="Text 10"/>
          <p:cNvSpPr/>
          <p:nvPr/>
        </p:nvSpPr>
        <p:spPr>
          <a:xfrm>
            <a:off x="850392" y="4050792"/>
            <a:ext cx="4814316" cy="73152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We do not ask it to. The agent produces evidence and a level, and the notary signs as they do today. Adoption starts with light acts where the law already allows remote handling.</a:t>
            </a:r>
            <a:endParaRPr lang="en-US" sz="1250" dirty="0"/>
          </a:p>
        </p:txBody>
      </p:sp>
      <p:sp>
        <p:nvSpPr>
          <p:cNvPr id="13" name="Shape 11"/>
          <p:cNvSpPr/>
          <p:nvPr/>
        </p:nvSpPr>
        <p:spPr>
          <a:xfrm>
            <a:off x="6240780" y="3547872"/>
            <a:ext cx="5326380" cy="1417320"/>
          </a:xfrm>
          <a:prstGeom prst="roundRect">
            <a:avLst>
              <a:gd name="adj" fmla="val 6452"/>
            </a:avLst>
          </a:prstGeom>
          <a:solidFill>
            <a:srgbClr val="F0F1F2"/>
          </a:solidFill>
          <a:ln w="12700">
            <a:solidFill>
              <a:srgbClr val="F0F1F2"/>
            </a:solidFill>
            <a:prstDash val="solid"/>
          </a:ln>
        </p:spPr>
      </p:sp>
      <p:sp>
        <p:nvSpPr>
          <p:cNvPr id="14" name="Text 12"/>
          <p:cNvSpPr/>
          <p:nvPr/>
        </p:nvSpPr>
        <p:spPr>
          <a:xfrm>
            <a:off x="6496812" y="3730752"/>
            <a:ext cx="4814316" cy="292608"/>
          </a:xfrm>
          <a:prstGeom prst="rect">
            <a:avLst/>
          </a:prstGeom>
          <a:noFill/>
          <a:ln/>
        </p:spPr>
        <p:txBody>
          <a:bodyPr wrap="square" lIns="0" tIns="0" rIns="0" bIns="0" rtlCol="0" anchor="ctr"/>
          <a:lstStyle/>
          <a:p>
            <a:pPr indent="0" marL="0">
              <a:buNone/>
            </a:pPr>
            <a:r>
              <a:rPr lang="en-US" sz="1400" b="1" dirty="0">
                <a:solidFill>
                  <a:srgbClr val="23282D"/>
                </a:solidFill>
                <a:latin typeface="Calibri" pitchFamily="34" charset="0"/>
                <a:ea typeface="Calibri" pitchFamily="34" charset="-122"/>
                <a:cs typeface="Calibri" pitchFamily="34" charset="-120"/>
              </a:rPr>
              <a:t>Every country is different</a:t>
            </a:r>
            <a:endParaRPr lang="en-US" sz="1400" dirty="0"/>
          </a:p>
        </p:txBody>
      </p:sp>
      <p:sp>
        <p:nvSpPr>
          <p:cNvPr id="15" name="Text 13"/>
          <p:cNvSpPr/>
          <p:nvPr/>
        </p:nvSpPr>
        <p:spPr>
          <a:xfrm>
            <a:off x="6496812" y="4050792"/>
            <a:ext cx="4814316" cy="73152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The agent knows which signals it can buy in each corridor and reports the highest level it could actually reach, instead of pretending the proof is equal everywhere.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F6F0F"/>
                </a:solidFill>
                <a:latin typeface="Calibri" pitchFamily="34" charset="0"/>
                <a:ea typeface="Calibri" pitchFamily="34" charset="-122"/>
                <a:cs typeface="Calibri" pitchFamily="34" charset="-120"/>
              </a:rPr>
              <a:t>BUSINESS MODEL AND PLAN</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23282D"/>
                </a:solidFill>
                <a:latin typeface="Cambria" pitchFamily="34" charset="0"/>
                <a:ea typeface="Cambria" pitchFamily="34" charset="-122"/>
                <a:cs typeface="Cambria" pitchFamily="34" charset="-120"/>
              </a:rPr>
              <a:t>A fee for each act, paid by the party that saves</a:t>
            </a:r>
            <a:endParaRPr lang="en-US" sz="3600" dirty="0"/>
          </a:p>
        </p:txBody>
      </p:sp>
      <p:sp>
        <p:nvSpPr>
          <p:cNvPr id="4" name="Shape 2"/>
          <p:cNvSpPr/>
          <p:nvPr/>
        </p:nvSpPr>
        <p:spPr>
          <a:xfrm>
            <a:off x="594360" y="1737360"/>
            <a:ext cx="3444240" cy="1920240"/>
          </a:xfrm>
          <a:prstGeom prst="roundRect">
            <a:avLst>
              <a:gd name="adj" fmla="val 4762"/>
            </a:avLst>
          </a:prstGeom>
          <a:solidFill>
            <a:srgbClr val="F0F1F2"/>
          </a:solidFill>
          <a:ln w="12700">
            <a:solidFill>
              <a:srgbClr val="F0F1F2"/>
            </a:solidFill>
            <a:prstDash val="solid"/>
          </a:ln>
        </p:spPr>
      </p:sp>
      <p:sp>
        <p:nvSpPr>
          <p:cNvPr id="5" name="Shape 3"/>
          <p:cNvSpPr/>
          <p:nvPr/>
        </p:nvSpPr>
        <p:spPr>
          <a:xfrm>
            <a:off x="850392" y="1975104"/>
            <a:ext cx="310896" cy="310896"/>
          </a:xfrm>
          <a:prstGeom prst="ellipse">
            <a:avLst/>
          </a:prstGeom>
          <a:solidFill>
            <a:srgbClr val="C9A227"/>
          </a:solidFill>
          <a:ln w="12700">
            <a:solidFill>
              <a:srgbClr val="C9A227"/>
            </a:solidFill>
            <a:prstDash val="solid"/>
          </a:ln>
        </p:spPr>
      </p:sp>
      <p:sp>
        <p:nvSpPr>
          <p:cNvPr id="6" name="Text 4"/>
          <p:cNvSpPr/>
          <p:nvPr/>
        </p:nvSpPr>
        <p:spPr>
          <a:xfrm>
            <a:off x="128016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Who pays</a:t>
            </a:r>
            <a:endParaRPr lang="en-US" sz="1450" dirty="0"/>
          </a:p>
        </p:txBody>
      </p:sp>
      <p:sp>
        <p:nvSpPr>
          <p:cNvPr id="7" name="Text 5"/>
          <p:cNvSpPr/>
          <p:nvPr/>
        </p:nvSpPr>
        <p:spPr>
          <a:xfrm>
            <a:off x="850392" y="2395728"/>
            <a:ext cx="2932176" cy="10515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Notaries, land registries, banks and law firms pay for each act. One avoided forged transfer covers thousands of checks.</a:t>
            </a:r>
            <a:endParaRPr lang="en-US" sz="1250" dirty="0"/>
          </a:p>
        </p:txBody>
      </p:sp>
      <p:sp>
        <p:nvSpPr>
          <p:cNvPr id="8" name="Shape 6"/>
          <p:cNvSpPr/>
          <p:nvPr/>
        </p:nvSpPr>
        <p:spPr>
          <a:xfrm>
            <a:off x="4358640" y="1737360"/>
            <a:ext cx="3444240" cy="1920240"/>
          </a:xfrm>
          <a:prstGeom prst="roundRect">
            <a:avLst>
              <a:gd name="adj" fmla="val 4762"/>
            </a:avLst>
          </a:prstGeom>
          <a:solidFill>
            <a:srgbClr val="F0F1F2"/>
          </a:solidFill>
          <a:ln w="12700">
            <a:solidFill>
              <a:srgbClr val="F0F1F2"/>
            </a:solidFill>
            <a:prstDash val="solid"/>
          </a:ln>
        </p:spPr>
      </p:sp>
      <p:sp>
        <p:nvSpPr>
          <p:cNvPr id="9" name="Shape 7"/>
          <p:cNvSpPr/>
          <p:nvPr/>
        </p:nvSpPr>
        <p:spPr>
          <a:xfrm>
            <a:off x="4614672" y="1975104"/>
            <a:ext cx="310896" cy="310896"/>
          </a:xfrm>
          <a:prstGeom prst="ellipse">
            <a:avLst/>
          </a:prstGeom>
          <a:solidFill>
            <a:srgbClr val="C9A227"/>
          </a:solidFill>
          <a:ln w="12700">
            <a:solidFill>
              <a:srgbClr val="C9A227"/>
            </a:solidFill>
            <a:prstDash val="solid"/>
          </a:ln>
        </p:spPr>
      </p:sp>
      <p:sp>
        <p:nvSpPr>
          <p:cNvPr id="10" name="Text 8"/>
          <p:cNvSpPr/>
          <p:nvPr/>
        </p:nvSpPr>
        <p:spPr>
          <a:xfrm>
            <a:off x="504444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Who opens the door</a:t>
            </a:r>
            <a:endParaRPr lang="en-US" sz="1450" dirty="0"/>
          </a:p>
        </p:txBody>
      </p:sp>
      <p:sp>
        <p:nvSpPr>
          <p:cNvPr id="11" name="Text 9"/>
          <p:cNvSpPr/>
          <p:nvPr/>
        </p:nvSpPr>
        <p:spPr>
          <a:xfrm>
            <a:off x="4614672" y="2395728"/>
            <a:ext cx="2932176" cy="10515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Consulates and e government platforms want shorter queues, so they are the partner rather than the customer.</a:t>
            </a:r>
            <a:endParaRPr lang="en-US" sz="1250" dirty="0"/>
          </a:p>
        </p:txBody>
      </p:sp>
      <p:sp>
        <p:nvSpPr>
          <p:cNvPr id="12" name="Shape 10"/>
          <p:cNvSpPr/>
          <p:nvPr/>
        </p:nvSpPr>
        <p:spPr>
          <a:xfrm>
            <a:off x="8122920" y="1737360"/>
            <a:ext cx="3444240" cy="1920240"/>
          </a:xfrm>
          <a:prstGeom prst="roundRect">
            <a:avLst>
              <a:gd name="adj" fmla="val 4762"/>
            </a:avLst>
          </a:prstGeom>
          <a:solidFill>
            <a:srgbClr val="F0F1F2"/>
          </a:solidFill>
          <a:ln w="12700">
            <a:solidFill>
              <a:srgbClr val="F0F1F2"/>
            </a:solidFill>
            <a:prstDash val="solid"/>
          </a:ln>
        </p:spPr>
      </p:sp>
      <p:sp>
        <p:nvSpPr>
          <p:cNvPr id="13" name="Shape 11"/>
          <p:cNvSpPr/>
          <p:nvPr/>
        </p:nvSpPr>
        <p:spPr>
          <a:xfrm>
            <a:off x="8378952" y="1975104"/>
            <a:ext cx="310896" cy="310896"/>
          </a:xfrm>
          <a:prstGeom prst="ellipse">
            <a:avLst/>
          </a:prstGeom>
          <a:solidFill>
            <a:srgbClr val="C9A227"/>
          </a:solidFill>
          <a:ln w="12700">
            <a:solidFill>
              <a:srgbClr val="C9A227"/>
            </a:solidFill>
            <a:prstDash val="solid"/>
          </a:ln>
        </p:spPr>
      </p:sp>
      <p:sp>
        <p:nvSpPr>
          <p:cNvPr id="14" name="Text 12"/>
          <p:cNvSpPr/>
          <p:nvPr/>
        </p:nvSpPr>
        <p:spPr>
          <a:xfrm>
            <a:off x="8808720" y="1956816"/>
            <a:ext cx="2529840" cy="365760"/>
          </a:xfrm>
          <a:prstGeom prst="rect">
            <a:avLst/>
          </a:prstGeom>
          <a:noFill/>
          <a:ln/>
        </p:spPr>
        <p:txBody>
          <a:bodyPr wrap="square" lIns="0" tIns="0" rIns="0" bIns="0" rtlCol="0" anchor="ctr"/>
          <a:lstStyle/>
          <a:p>
            <a:pPr indent="0" marL="0">
              <a:buNone/>
            </a:pPr>
            <a:r>
              <a:rPr lang="en-US" sz="1450" b="1" dirty="0">
                <a:solidFill>
                  <a:srgbClr val="23282D"/>
                </a:solidFill>
                <a:latin typeface="Calibri" pitchFamily="34" charset="0"/>
                <a:ea typeface="Calibri" pitchFamily="34" charset="-122"/>
                <a:cs typeface="Calibri" pitchFamily="34" charset="-120"/>
              </a:rPr>
              <a:t>The operator share</a:t>
            </a:r>
            <a:endParaRPr lang="en-US" sz="1450" dirty="0"/>
          </a:p>
        </p:txBody>
      </p:sp>
      <p:sp>
        <p:nvSpPr>
          <p:cNvPr id="15" name="Text 13"/>
          <p:cNvSpPr/>
          <p:nvPr/>
        </p:nvSpPr>
        <p:spPr>
          <a:xfrm>
            <a:off x="8378952" y="2395728"/>
            <a:ext cx="2932176" cy="1051560"/>
          </a:xfrm>
          <a:prstGeom prst="rect">
            <a:avLst/>
          </a:prstGeom>
          <a:noFill/>
          <a:ln/>
        </p:spPr>
        <p:txBody>
          <a:bodyPr wrap="square" lIns="0" tIns="0" rIns="0" bIns="0" rtlCol="0" anchor="t"/>
          <a:lstStyle/>
          <a:p>
            <a:pPr indent="0" marL="0">
              <a:lnSpc>
                <a:spcPct val="115000"/>
              </a:lnSpc>
              <a:buNone/>
            </a:pPr>
            <a:r>
              <a:rPr lang="en-US" sz="1250" dirty="0">
                <a:solidFill>
                  <a:srgbClr val="3C434A"/>
                </a:solidFill>
                <a:latin typeface="Calibri" pitchFamily="34" charset="0"/>
                <a:ea typeface="Calibri" pitchFamily="34" charset="-122"/>
                <a:cs typeface="Calibri" pitchFamily="34" charset="-120"/>
              </a:rPr>
              <a:t>Operators earn from every API call and gain a trusted identity story they can take to any government.</a:t>
            </a:r>
            <a:endParaRPr lang="en-US" sz="1250" dirty="0"/>
          </a:p>
        </p:txBody>
      </p:sp>
      <p:sp>
        <p:nvSpPr>
          <p:cNvPr id="16" name="Shape 14"/>
          <p:cNvSpPr/>
          <p:nvPr/>
        </p:nvSpPr>
        <p:spPr>
          <a:xfrm>
            <a:off x="621792" y="3977640"/>
            <a:ext cx="457200" cy="457200"/>
          </a:xfrm>
          <a:prstGeom prst="ellipse">
            <a:avLst/>
          </a:prstGeom>
          <a:solidFill>
            <a:srgbClr val="44505A"/>
          </a:solidFill>
          <a:ln w="12700">
            <a:solidFill>
              <a:srgbClr val="44505A"/>
            </a:solidFill>
            <a:prstDash val="solid"/>
          </a:ln>
        </p:spPr>
      </p:sp>
      <p:sp>
        <p:nvSpPr>
          <p:cNvPr id="17" name="Text 15"/>
          <p:cNvSpPr/>
          <p:nvPr/>
        </p:nvSpPr>
        <p:spPr>
          <a:xfrm>
            <a:off x="621792" y="3977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6"/>
          <p:cNvSpPr/>
          <p:nvPr/>
        </p:nvSpPr>
        <p:spPr>
          <a:xfrm>
            <a:off x="1280160" y="3959352"/>
            <a:ext cx="1031443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Week 1 of the prototype phase</a:t>
            </a:r>
            <a:endParaRPr lang="en-US" sz="1500" dirty="0"/>
          </a:p>
        </p:txBody>
      </p:sp>
      <p:sp>
        <p:nvSpPr>
          <p:cNvPr id="19" name="Text 17"/>
          <p:cNvSpPr/>
          <p:nvPr/>
        </p:nvSpPr>
        <p:spPr>
          <a:xfrm>
            <a:off x="1280160" y="4233672"/>
            <a:ext cx="10314432" cy="393192"/>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Act levels, the silent line check and the swap checks running on Nokia simulator numbers.</a:t>
            </a:r>
            <a:endParaRPr lang="en-US" sz="1300" dirty="0"/>
          </a:p>
        </p:txBody>
      </p:sp>
      <p:sp>
        <p:nvSpPr>
          <p:cNvPr id="20" name="Shape 18"/>
          <p:cNvSpPr/>
          <p:nvPr/>
        </p:nvSpPr>
        <p:spPr>
          <a:xfrm>
            <a:off x="621792" y="4690872"/>
            <a:ext cx="457200" cy="457200"/>
          </a:xfrm>
          <a:prstGeom prst="ellipse">
            <a:avLst/>
          </a:prstGeom>
          <a:solidFill>
            <a:srgbClr val="44505A"/>
          </a:solidFill>
          <a:ln w="12700">
            <a:solidFill>
              <a:srgbClr val="44505A"/>
            </a:solidFill>
            <a:prstDash val="solid"/>
          </a:ln>
        </p:spPr>
      </p:sp>
      <p:sp>
        <p:nvSpPr>
          <p:cNvPr id="21" name="Text 19"/>
          <p:cNvSpPr/>
          <p:nvPr/>
        </p:nvSpPr>
        <p:spPr>
          <a:xfrm>
            <a:off x="621792" y="46908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20"/>
          <p:cNvSpPr/>
          <p:nvPr/>
        </p:nvSpPr>
        <p:spPr>
          <a:xfrm>
            <a:off x="1280160" y="4672584"/>
            <a:ext cx="1031443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Week 2</a:t>
            </a:r>
            <a:endParaRPr lang="en-US" sz="1500" dirty="0"/>
          </a:p>
        </p:txBody>
      </p:sp>
      <p:sp>
        <p:nvSpPr>
          <p:cNvPr id="23" name="Text 21"/>
          <p:cNvSpPr/>
          <p:nvPr/>
        </p:nvSpPr>
        <p:spPr>
          <a:xfrm>
            <a:off x="1280160" y="4946904"/>
            <a:ext cx="10314432" cy="393192"/>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Country matching, the notary report page and a takeover attempt played end to end.</a:t>
            </a:r>
            <a:endParaRPr lang="en-US" sz="1300" dirty="0"/>
          </a:p>
        </p:txBody>
      </p:sp>
      <p:sp>
        <p:nvSpPr>
          <p:cNvPr id="24" name="Shape 22"/>
          <p:cNvSpPr/>
          <p:nvPr/>
        </p:nvSpPr>
        <p:spPr>
          <a:xfrm>
            <a:off x="621792" y="5404104"/>
            <a:ext cx="457200" cy="457200"/>
          </a:xfrm>
          <a:prstGeom prst="ellipse">
            <a:avLst/>
          </a:prstGeom>
          <a:solidFill>
            <a:srgbClr val="44505A"/>
          </a:solidFill>
          <a:ln w="12700">
            <a:solidFill>
              <a:srgbClr val="44505A"/>
            </a:solidFill>
            <a:prstDash val="solid"/>
          </a:ln>
        </p:spPr>
      </p:sp>
      <p:sp>
        <p:nvSpPr>
          <p:cNvPr id="25" name="Text 23"/>
          <p:cNvSpPr/>
          <p:nvPr/>
        </p:nvSpPr>
        <p:spPr>
          <a:xfrm>
            <a:off x="621792" y="54041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p:nvPr/>
        </p:nvSpPr>
        <p:spPr>
          <a:xfrm>
            <a:off x="1280160" y="5385816"/>
            <a:ext cx="10314432" cy="274320"/>
          </a:xfrm>
          <a:prstGeom prst="rect">
            <a:avLst/>
          </a:prstGeom>
          <a:noFill/>
          <a:ln/>
        </p:spPr>
        <p:txBody>
          <a:bodyPr wrap="square" lIns="0" tIns="0" rIns="0" bIns="0" rtlCol="0" anchor="ctr"/>
          <a:lstStyle/>
          <a:p>
            <a:pPr indent="0" marL="0">
              <a:buNone/>
            </a:pPr>
            <a:r>
              <a:rPr lang="en-US" sz="1500" b="1" dirty="0">
                <a:solidFill>
                  <a:srgbClr val="23282D"/>
                </a:solidFill>
                <a:latin typeface="Calibri" pitchFamily="34" charset="0"/>
                <a:ea typeface="Calibri" pitchFamily="34" charset="-122"/>
                <a:cs typeface="Calibri" pitchFamily="34" charset="-120"/>
              </a:rPr>
              <a:t>After the hackathon</a:t>
            </a:r>
            <a:endParaRPr lang="en-US" sz="1500" dirty="0"/>
          </a:p>
        </p:txBody>
      </p:sp>
      <p:sp>
        <p:nvSpPr>
          <p:cNvPr id="27" name="Text 25"/>
          <p:cNvSpPr/>
          <p:nvPr/>
        </p:nvSpPr>
        <p:spPr>
          <a:xfrm>
            <a:off x="1280160" y="5660136"/>
            <a:ext cx="10314432" cy="393192"/>
          </a:xfrm>
          <a:prstGeom prst="rect">
            <a:avLst/>
          </a:prstGeom>
          <a:noFill/>
          <a:ln/>
        </p:spPr>
        <p:txBody>
          <a:bodyPr wrap="square" lIns="0" tIns="0" rIns="0" bIns="0" rtlCol="0" anchor="t"/>
          <a:lstStyle/>
          <a:p>
            <a:pPr indent="0" marL="0">
              <a:lnSpc>
                <a:spcPct val="115000"/>
              </a:lnSpc>
              <a:buNone/>
            </a:pPr>
            <a:r>
              <a:rPr lang="en-US" sz="1300" dirty="0">
                <a:solidFill>
                  <a:srgbClr val="3C434A"/>
                </a:solidFill>
                <a:latin typeface="Calibri" pitchFamily="34" charset="0"/>
                <a:ea typeface="Calibri" pitchFamily="34" charset="-122"/>
                <a:cs typeface="Calibri" pitchFamily="34" charset="-120"/>
              </a:rPr>
              <a:t>One pilot with a Turkish law firm on light acts, then one Gulf registry.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82D"/>
        </a:solidFill>
      </p:bgPr>
    </p:bg>
    <p:spTree>
      <p:nvGrpSpPr>
        <p:cNvPr id="1" name=""/>
        <p:cNvGrpSpPr/>
        <p:nvPr/>
      </p:nvGrpSpPr>
      <p:grpSpPr>
        <a:xfrm>
          <a:off x="0" y="0"/>
          <a:ext cx="0" cy="0"/>
          <a:chOff x="0" y="0"/>
          <a:chExt cx="0" cy="0"/>
        </a:xfrm>
      </p:grpSpPr>
      <p:sp>
        <p:nvSpPr>
          <p:cNvPr id="2" name="Shape 0"/>
          <p:cNvSpPr/>
          <p:nvPr/>
        </p:nvSpPr>
        <p:spPr>
          <a:xfrm>
            <a:off x="-1463040" y="3840480"/>
            <a:ext cx="4023360" cy="4023360"/>
          </a:xfrm>
          <a:prstGeom prst="ellipse">
            <a:avLst/>
          </a:prstGeom>
          <a:solidFill>
            <a:srgbClr val="44505A">
              <a:alpha val="50000"/>
            </a:srgbClr>
          </a:solidFill>
          <a:ln w="12700">
            <a:solidFill>
              <a:srgbClr val="44505A">
                <a:alpha val="0"/>
              </a:srgbClr>
            </a:solidFill>
            <a:prstDash val="solid"/>
          </a:ln>
        </p:spPr>
      </p:sp>
      <p:sp>
        <p:nvSpPr>
          <p:cNvPr id="3" name="Text 1"/>
          <p:cNvSpPr/>
          <p:nvPr/>
        </p:nvSpPr>
        <p:spPr>
          <a:xfrm>
            <a:off x="914400" y="1600200"/>
            <a:ext cx="8229600" cy="320040"/>
          </a:xfrm>
          <a:prstGeom prst="rect">
            <a:avLst/>
          </a:prstGeom>
          <a:noFill/>
          <a:ln/>
        </p:spPr>
        <p:txBody>
          <a:bodyPr wrap="square" lIns="0" tIns="0" rIns="0" bIns="0"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WAKALA</a:t>
            </a:r>
            <a:endParaRPr lang="en-US" sz="1300" dirty="0"/>
          </a:p>
        </p:txBody>
      </p:sp>
      <p:sp>
        <p:nvSpPr>
          <p:cNvPr id="4" name="Text 2"/>
          <p:cNvSpPr/>
          <p:nvPr/>
        </p:nvSpPr>
        <p:spPr>
          <a:xfrm>
            <a:off x="914400" y="2103120"/>
            <a:ext cx="10332720" cy="13716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 citizen abroad should not need a flight to sign four lines.</a:t>
            </a:r>
            <a:endParaRPr lang="en-US" sz="4400" dirty="0"/>
          </a:p>
        </p:txBody>
      </p:sp>
      <p:sp>
        <p:nvSpPr>
          <p:cNvPr id="5" name="Text 3"/>
          <p:cNvSpPr/>
          <p:nvPr/>
        </p:nvSpPr>
        <p:spPr>
          <a:xfrm>
            <a:off x="914400" y="3794760"/>
            <a:ext cx="9601200" cy="822960"/>
          </a:xfrm>
          <a:prstGeom prst="rect">
            <a:avLst/>
          </a:prstGeom>
          <a:noFill/>
          <a:ln/>
        </p:spPr>
        <p:txBody>
          <a:bodyPr wrap="square" lIns="0" tIns="0" rIns="0" bIns="0" rtlCol="0" anchor="ctr"/>
          <a:lstStyle/>
          <a:p>
            <a:pPr indent="0" marL="0">
              <a:lnSpc>
                <a:spcPct val="120000"/>
              </a:lnSpc>
              <a:buNone/>
            </a:pPr>
            <a:r>
              <a:rPr lang="en-US" sz="1800" dirty="0">
                <a:solidFill>
                  <a:srgbClr val="D2D7DC"/>
                </a:solidFill>
                <a:latin typeface="Calibri" pitchFamily="34" charset="0"/>
                <a:ea typeface="Calibri" pitchFamily="34" charset="-122"/>
                <a:cs typeface="Calibri" pitchFamily="34" charset="-120"/>
              </a:rPr>
              <a:t>An AI agent that matches the proof to the stakes and gives the notary better evidence than a video call.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Wakala</dc:title>
  <dc:subject>PptxGenJS Presentation</dc:subject>
  <dc:creator>Mert Gungor</dc:creator>
  <cp:lastModifiedBy>Mert Gungor</cp:lastModifiedBy>
  <cp:revision>1</cp:revision>
  <dcterms:created xsi:type="dcterms:W3CDTF">2026-08-23T14:53:02Z</dcterms:created>
  <dcterms:modified xsi:type="dcterms:W3CDTF">2026-08-23T14:53:02Z</dcterms:modified>
</cp:coreProperties>
</file>